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67" r:id="rId3"/>
    <p:sldId id="268" r:id="rId4"/>
    <p:sldId id="278" r:id="rId5"/>
    <p:sldId id="276" r:id="rId6"/>
    <p:sldId id="270" r:id="rId7"/>
    <p:sldId id="269" r:id="rId8"/>
    <p:sldId id="275" r:id="rId9"/>
    <p:sldId id="271" r:id="rId10"/>
    <p:sldId id="272" r:id="rId11"/>
    <p:sldId id="279" r:id="rId12"/>
    <p:sldId id="280" r:id="rId14"/>
    <p:sldId id="262" r:id="rId15"/>
    <p:sldId id="261" r:id="rId16"/>
  </p:sldIdLst>
  <p:sldSz cx="12190095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78E"/>
    <a:srgbClr val="E2E2E2"/>
    <a:srgbClr val="D8D8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692" autoAdjust="0"/>
  </p:normalViewPr>
  <p:slideViewPr>
    <p:cSldViewPr showGuides="1">
      <p:cViewPr>
        <p:scale>
          <a:sx n="50" d="100"/>
          <a:sy n="50" d="100"/>
        </p:scale>
        <p:origin x="588" y="144"/>
      </p:cViewPr>
      <p:guideLst>
        <p:guide orient="horz" pos="2162"/>
        <p:guide pos="38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55F91-8799-43E0-A885-9C7F89CFBC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BCFBB-0826-4AD2-9BD6-EC0E150677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https://arxiv.org/abs/2510.01538</a:t>
            </a:r>
            <a:endParaRPr lang="en-US" altLang="zh-CN"/>
          </a:p>
          <a:p>
            <a:r>
              <a:rPr lang="en-US" altLang="zh-CN"/>
              <a:t>https://arxiv.org/abs/2602.13802</a:t>
            </a:r>
            <a:endParaRPr lang="en-US" altLang="zh-CN"/>
          </a:p>
          <a:p>
            <a:r>
              <a:rPr lang="en-US" altLang="zh-CN"/>
              <a:t>https://arxiv.org/abs/2601.13653</a:t>
            </a:r>
            <a:endParaRPr lang="en-US" altLang="zh-CN"/>
          </a:p>
          <a:p>
            <a:r>
              <a:rPr lang="en-US" altLang="zh-CN"/>
              <a:t>https://arxiv.org/abs/2605.30002</a:t>
            </a:r>
            <a:endParaRPr lang="en-US" altLang="zh-CN"/>
          </a:p>
          <a:p>
            <a:r>
              <a:rPr lang="en-US" altLang="zh-CN"/>
              <a:t>https://arxiv.org/abs/2311.13743</a:t>
            </a:r>
            <a:endParaRPr lang="en-US" altLang="zh-CN"/>
          </a:p>
          <a:p>
            <a:r>
              <a:rPr lang="en-US" altLang="zh-CN"/>
              <a:t>https://arxiv.org/abs/2412.20138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CBCFBB-0826-4AD2-9BD6-EC0E150677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CBCFBB-0826-4AD2-9BD6-EC0E150677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281" y="2130426"/>
            <a:ext cx="10361851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562" y="3886200"/>
            <a:ext cx="853328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6860-A415-41B8-A542-096C900D86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FDD1-C2CA-4C9D-AE6F-B0B00ACAF1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6860-A415-41B8-A542-096C900D86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FDD1-C2CA-4C9D-AE6F-B0B00ACAF1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6901"/>
            <a:ext cx="1036185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6713"/>
            <a:ext cx="1036185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6860-A415-41B8-A542-096C900D86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FDD1-C2CA-4C9D-AE6F-B0B00ACAF1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2695" y="1600201"/>
            <a:ext cx="721054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26413" y="1600201"/>
            <a:ext cx="721266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6860-A415-41B8-A542-096C900D86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FDD1-C2CA-4C9D-AE6F-B0B00ACAF1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1" y="274638"/>
            <a:ext cx="1097137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113"/>
            <a:ext cx="53862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4875"/>
            <a:ext cx="53862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1" y="1535113"/>
            <a:ext cx="538833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1" y="2174875"/>
            <a:ext cx="538833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6860-A415-41B8-A542-096C900D86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FDD1-C2CA-4C9D-AE6F-B0B00ACAF1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6860-A415-41B8-A542-096C900D86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FDD1-C2CA-4C9D-AE6F-B0B00ACAF1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6860-A415-41B8-A542-096C900D86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FDD1-C2CA-4C9D-AE6F-B0B00ACAF1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1" y="273050"/>
            <a:ext cx="401056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113" y="273051"/>
            <a:ext cx="681477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521" y="1435101"/>
            <a:ext cx="401056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6860-A415-41B8-A542-096C900D86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FDD1-C2CA-4C9D-AE6F-B0B00ACAF1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06" y="4800600"/>
            <a:ext cx="731424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06" y="612775"/>
            <a:ext cx="731424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06" y="5367338"/>
            <a:ext cx="731424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6860-A415-41B8-A542-096C900D86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FDD1-C2CA-4C9D-AE6F-B0B00ACAF1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6860-A415-41B8-A542-096C900D86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FDD1-C2CA-4C9D-AE6F-B0B00ACAF1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784067" y="274639"/>
            <a:ext cx="3655008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694" y="274639"/>
            <a:ext cx="10768198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6860-A415-41B8-A542-096C900D86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FDD1-C2CA-4C9D-AE6F-B0B00ACAF1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638"/>
            <a:ext cx="109713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201"/>
            <a:ext cx="1097137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86860-A415-41B8-A542-096C900D86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6351"/>
            <a:ext cx="38602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6351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1FDD1-C2CA-4C9D-AE6F-B0B00ACAF13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7.xml"/><Relationship Id="rId6" Type="http://schemas.openxmlformats.org/officeDocument/2006/relationships/hyperlink" Target="https://arxiv.org/abs/2412.20138" TargetMode="External"/><Relationship Id="rId5" Type="http://schemas.openxmlformats.org/officeDocument/2006/relationships/hyperlink" Target="https://arxiv.org/abs/2311.13743" TargetMode="External"/><Relationship Id="rId4" Type="http://schemas.openxmlformats.org/officeDocument/2006/relationships/hyperlink" Target="https://arxiv.org/abs/2605.30002" TargetMode="External"/><Relationship Id="rId3" Type="http://schemas.openxmlformats.org/officeDocument/2006/relationships/hyperlink" Target="https://arxiv.org/abs/2601.13653" TargetMode="External"/><Relationship Id="rId2" Type="http://schemas.openxmlformats.org/officeDocument/2006/relationships/hyperlink" Target="https://arxiv.org/abs/2602.13802" TargetMode="External"/><Relationship Id="rId1" Type="http://schemas.openxmlformats.org/officeDocument/2006/relationships/hyperlink" Target="https://arxiv.org/abs/2510.01538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054437" y="2876706"/>
            <a:ext cx="9983432" cy="103951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思源黑体 CN Bold" pitchFamily="34" charset="-122"/>
                <a:ea typeface="思源黑体 CN Bold" pitchFamily="34" charset="-122"/>
              </a:rPr>
              <a:t>The Landscape of Agentic Time Series Systems: Architectures, Reliability, and Frontiers</a:t>
            </a:r>
            <a:endParaRPr lang="en-US" altLang="zh-CN" sz="3200" dirty="0"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8111767" y="4497260"/>
            <a:ext cx="7743272" cy="44051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穆莹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-657105" y="-1035496"/>
            <a:ext cx="13232064" cy="2574364"/>
          </a:xfrm>
          <a:custGeom>
            <a:avLst/>
            <a:gdLst>
              <a:gd name="connsiteX0" fmla="*/ 0 w 12889432"/>
              <a:gd name="connsiteY0" fmla="*/ 1313484 h 2626968"/>
              <a:gd name="connsiteX1" fmla="*/ 6444716 w 12889432"/>
              <a:gd name="connsiteY1" fmla="*/ 0 h 2626968"/>
              <a:gd name="connsiteX2" fmla="*/ 12889432 w 12889432"/>
              <a:gd name="connsiteY2" fmla="*/ 1313484 h 2626968"/>
              <a:gd name="connsiteX3" fmla="*/ 6444716 w 12889432"/>
              <a:gd name="connsiteY3" fmla="*/ 2626968 h 2626968"/>
              <a:gd name="connsiteX4" fmla="*/ 0 w 12889432"/>
              <a:gd name="connsiteY4" fmla="*/ 1313484 h 2626968"/>
              <a:gd name="connsiteX0-1" fmla="*/ 49 w 12889481"/>
              <a:gd name="connsiteY0-2" fmla="*/ 1313484 h 2524227"/>
              <a:gd name="connsiteX1-3" fmla="*/ 6444765 w 12889481"/>
              <a:gd name="connsiteY1-4" fmla="*/ 0 h 2524227"/>
              <a:gd name="connsiteX2-5" fmla="*/ 12889481 w 12889481"/>
              <a:gd name="connsiteY2-6" fmla="*/ 1313484 h 2524227"/>
              <a:gd name="connsiteX3-7" fmla="*/ 6362571 w 12889481"/>
              <a:gd name="connsiteY3-8" fmla="*/ 2524227 h 2524227"/>
              <a:gd name="connsiteX4-9" fmla="*/ 49 w 12889481"/>
              <a:gd name="connsiteY4-10" fmla="*/ 1313484 h 2524227"/>
              <a:gd name="connsiteX0-11" fmla="*/ 93683 w 12983115"/>
              <a:gd name="connsiteY0-12" fmla="*/ 1313484 h 2525740"/>
              <a:gd name="connsiteX1-13" fmla="*/ 6538399 w 12983115"/>
              <a:gd name="connsiteY1-14" fmla="*/ 0 h 2525740"/>
              <a:gd name="connsiteX2-15" fmla="*/ 12983115 w 12983115"/>
              <a:gd name="connsiteY2-16" fmla="*/ 1313484 h 2525740"/>
              <a:gd name="connsiteX3-17" fmla="*/ 6456205 w 12983115"/>
              <a:gd name="connsiteY3-18" fmla="*/ 2524227 h 2525740"/>
              <a:gd name="connsiteX4-19" fmla="*/ 2961159 w 12983115"/>
              <a:gd name="connsiteY4-20" fmla="*/ 1559479 h 2525740"/>
              <a:gd name="connsiteX5" fmla="*/ 93683 w 12983115"/>
              <a:gd name="connsiteY5" fmla="*/ 1313484 h 2525740"/>
              <a:gd name="connsiteX0-21" fmla="*/ 93683 w 13099519"/>
              <a:gd name="connsiteY0-22" fmla="*/ 1313484 h 2524229"/>
              <a:gd name="connsiteX1-23" fmla="*/ 6538399 w 13099519"/>
              <a:gd name="connsiteY1-24" fmla="*/ 0 h 2524229"/>
              <a:gd name="connsiteX2-25" fmla="*/ 12983115 w 13099519"/>
              <a:gd name="connsiteY2-26" fmla="*/ 1313484 h 2524229"/>
              <a:gd name="connsiteX3-27" fmla="*/ 10882534 w 13099519"/>
              <a:gd name="connsiteY3-28" fmla="*/ 1569752 h 2524229"/>
              <a:gd name="connsiteX4-29" fmla="*/ 6456205 w 13099519"/>
              <a:gd name="connsiteY4-30" fmla="*/ 2524227 h 2524229"/>
              <a:gd name="connsiteX5-31" fmla="*/ 2961159 w 13099519"/>
              <a:gd name="connsiteY5-32" fmla="*/ 1559479 h 2524229"/>
              <a:gd name="connsiteX6" fmla="*/ 93683 w 13099519"/>
              <a:gd name="connsiteY6" fmla="*/ 1313484 h 2524229"/>
              <a:gd name="connsiteX0-33" fmla="*/ 262887 w 13268723"/>
              <a:gd name="connsiteY0-34" fmla="*/ 1329152 h 2539897"/>
              <a:gd name="connsiteX1-35" fmla="*/ 859774 w 13268723"/>
              <a:gd name="connsiteY1-36" fmla="*/ 650473 h 2539897"/>
              <a:gd name="connsiteX2-37" fmla="*/ 6707603 w 13268723"/>
              <a:gd name="connsiteY2-38" fmla="*/ 15668 h 2539897"/>
              <a:gd name="connsiteX3-39" fmla="*/ 13152319 w 13268723"/>
              <a:gd name="connsiteY3-40" fmla="*/ 1329152 h 2539897"/>
              <a:gd name="connsiteX4-41" fmla="*/ 11051738 w 13268723"/>
              <a:gd name="connsiteY4-42" fmla="*/ 1585420 h 2539897"/>
              <a:gd name="connsiteX5-43" fmla="*/ 6625409 w 13268723"/>
              <a:gd name="connsiteY5-44" fmla="*/ 2539895 h 2539897"/>
              <a:gd name="connsiteX6-45" fmla="*/ 3130363 w 13268723"/>
              <a:gd name="connsiteY6-46" fmla="*/ 1575147 h 2539897"/>
              <a:gd name="connsiteX7" fmla="*/ 262887 w 13268723"/>
              <a:gd name="connsiteY7" fmla="*/ 1329152 h 2539897"/>
              <a:gd name="connsiteX0-47" fmla="*/ 262887 w 13250480"/>
              <a:gd name="connsiteY0-48" fmla="*/ 1313612 h 2524357"/>
              <a:gd name="connsiteX1-49" fmla="*/ 859774 w 13250480"/>
              <a:gd name="connsiteY1-50" fmla="*/ 634933 h 2524357"/>
              <a:gd name="connsiteX2-51" fmla="*/ 6707603 w 13250480"/>
              <a:gd name="connsiteY2-52" fmla="*/ 128 h 2524357"/>
              <a:gd name="connsiteX3-53" fmla="*/ 12253814 w 13250480"/>
              <a:gd name="connsiteY3-54" fmla="*/ 686304 h 2524357"/>
              <a:gd name="connsiteX4-55" fmla="*/ 13152319 w 13250480"/>
              <a:gd name="connsiteY4-56" fmla="*/ 1313612 h 2524357"/>
              <a:gd name="connsiteX5-57" fmla="*/ 11051738 w 13250480"/>
              <a:gd name="connsiteY5-58" fmla="*/ 1569880 h 2524357"/>
              <a:gd name="connsiteX6-59" fmla="*/ 6625409 w 13250480"/>
              <a:gd name="connsiteY6-60" fmla="*/ 2524355 h 2524357"/>
              <a:gd name="connsiteX7-61" fmla="*/ 3130363 w 13250480"/>
              <a:gd name="connsiteY7-62" fmla="*/ 1559607 h 2524357"/>
              <a:gd name="connsiteX8" fmla="*/ 262887 w 13250480"/>
              <a:gd name="connsiteY8" fmla="*/ 1313612 h 2524357"/>
              <a:gd name="connsiteX0-63" fmla="*/ 262887 w 13235862"/>
              <a:gd name="connsiteY0-64" fmla="*/ 1313612 h 2547040"/>
              <a:gd name="connsiteX1-65" fmla="*/ 859774 w 13235862"/>
              <a:gd name="connsiteY1-66" fmla="*/ 634933 h 2547040"/>
              <a:gd name="connsiteX2-67" fmla="*/ 6707603 w 13235862"/>
              <a:gd name="connsiteY2-68" fmla="*/ 128 h 2547040"/>
              <a:gd name="connsiteX3-69" fmla="*/ 12253814 w 13235862"/>
              <a:gd name="connsiteY3-70" fmla="*/ 686304 h 2547040"/>
              <a:gd name="connsiteX4-71" fmla="*/ 13152319 w 13235862"/>
              <a:gd name="connsiteY4-72" fmla="*/ 1313612 h 2547040"/>
              <a:gd name="connsiteX5-73" fmla="*/ 13075747 w 13235862"/>
              <a:gd name="connsiteY5-74" fmla="*/ 2545926 h 2547040"/>
              <a:gd name="connsiteX6-75" fmla="*/ 11051738 w 13235862"/>
              <a:gd name="connsiteY6-76" fmla="*/ 1569880 h 2547040"/>
              <a:gd name="connsiteX7-77" fmla="*/ 6625409 w 13235862"/>
              <a:gd name="connsiteY7-78" fmla="*/ 2524355 h 2547040"/>
              <a:gd name="connsiteX8-79" fmla="*/ 3130363 w 13235862"/>
              <a:gd name="connsiteY8-80" fmla="*/ 1559607 h 2547040"/>
              <a:gd name="connsiteX9" fmla="*/ 262887 w 13235862"/>
              <a:gd name="connsiteY9" fmla="*/ 1313612 h 2547040"/>
              <a:gd name="connsiteX0-81" fmla="*/ 262887 w 13232064"/>
              <a:gd name="connsiteY0-82" fmla="*/ 1313612 h 2574364"/>
              <a:gd name="connsiteX1-83" fmla="*/ 859774 w 13232064"/>
              <a:gd name="connsiteY1-84" fmla="*/ 634933 h 2574364"/>
              <a:gd name="connsiteX2-85" fmla="*/ 6707603 w 13232064"/>
              <a:gd name="connsiteY2-86" fmla="*/ 128 h 2574364"/>
              <a:gd name="connsiteX3-87" fmla="*/ 12253814 w 13232064"/>
              <a:gd name="connsiteY3-88" fmla="*/ 686304 h 2574364"/>
              <a:gd name="connsiteX4-89" fmla="*/ 13152319 w 13232064"/>
              <a:gd name="connsiteY4-90" fmla="*/ 1313612 h 2574364"/>
              <a:gd name="connsiteX5-91" fmla="*/ 13075747 w 13232064"/>
              <a:gd name="connsiteY5-92" fmla="*/ 2545926 h 2574364"/>
              <a:gd name="connsiteX6-93" fmla="*/ 12048331 w 13232064"/>
              <a:gd name="connsiteY6-94" fmla="*/ 2443184 h 2574364"/>
              <a:gd name="connsiteX7-95" fmla="*/ 11051738 w 13232064"/>
              <a:gd name="connsiteY7-96" fmla="*/ 1569880 h 2574364"/>
              <a:gd name="connsiteX8-97" fmla="*/ 6625409 w 13232064"/>
              <a:gd name="connsiteY8-98" fmla="*/ 2524355 h 2574364"/>
              <a:gd name="connsiteX9-99" fmla="*/ 3130363 w 13232064"/>
              <a:gd name="connsiteY9-100" fmla="*/ 1559607 h 2574364"/>
              <a:gd name="connsiteX10" fmla="*/ 262887 w 13232064"/>
              <a:gd name="connsiteY10" fmla="*/ 1313612 h 25743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31" y="connsiteY5-32"/>
              </a:cxn>
              <a:cxn ang="0">
                <a:pos x="connsiteX6-45" y="connsiteY6-46"/>
              </a:cxn>
              <a:cxn ang="0">
                <a:pos x="connsiteX7-61" y="connsiteY7-62"/>
              </a:cxn>
              <a:cxn ang="0">
                <a:pos x="connsiteX8-79" y="connsiteY8-80"/>
              </a:cxn>
              <a:cxn ang="0">
                <a:pos x="connsiteX9-99" y="connsiteY9-100"/>
              </a:cxn>
              <a:cxn ang="0">
                <a:pos x="connsiteX10" y="connsiteY10"/>
              </a:cxn>
            </a:cxnLst>
            <a:rect l="l" t="t" r="r" b="b"/>
            <a:pathLst>
              <a:path w="13232064" h="2574364">
                <a:moveTo>
                  <a:pt x="262887" y="1313612"/>
                </a:moveTo>
                <a:cubicBezTo>
                  <a:pt x="-115545" y="1159500"/>
                  <a:pt x="-214345" y="853847"/>
                  <a:pt x="859774" y="634933"/>
                </a:cubicBezTo>
                <a:cubicBezTo>
                  <a:pt x="1933893" y="416019"/>
                  <a:pt x="4808596" y="-8434"/>
                  <a:pt x="6707603" y="128"/>
                </a:cubicBezTo>
                <a:cubicBezTo>
                  <a:pt x="8606610" y="8690"/>
                  <a:pt x="11179695" y="467390"/>
                  <a:pt x="12253814" y="686304"/>
                </a:cubicBezTo>
                <a:cubicBezTo>
                  <a:pt x="13327933" y="905218"/>
                  <a:pt x="13222526" y="1188610"/>
                  <a:pt x="13152319" y="1313612"/>
                </a:cubicBezTo>
                <a:cubicBezTo>
                  <a:pt x="13082112" y="1438614"/>
                  <a:pt x="13417282" y="2504927"/>
                  <a:pt x="13075747" y="2545926"/>
                </a:cubicBezTo>
                <a:cubicBezTo>
                  <a:pt x="12734212" y="2586925"/>
                  <a:pt x="12385666" y="2605858"/>
                  <a:pt x="12048331" y="2443184"/>
                </a:cubicBezTo>
                <a:cubicBezTo>
                  <a:pt x="11710996" y="2280510"/>
                  <a:pt x="11798021" y="1409088"/>
                  <a:pt x="11051738" y="1569880"/>
                </a:cubicBezTo>
                <a:cubicBezTo>
                  <a:pt x="10305455" y="1730672"/>
                  <a:pt x="7945638" y="2526067"/>
                  <a:pt x="6625409" y="2524355"/>
                </a:cubicBezTo>
                <a:cubicBezTo>
                  <a:pt x="5305180" y="2522643"/>
                  <a:pt x="4190783" y="1761398"/>
                  <a:pt x="3130363" y="1559607"/>
                </a:cubicBezTo>
                <a:cubicBezTo>
                  <a:pt x="2069943" y="1357817"/>
                  <a:pt x="641319" y="1467724"/>
                  <a:pt x="262887" y="131361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-1063114" y="5519012"/>
            <a:ext cx="14417504" cy="2464718"/>
          </a:xfrm>
          <a:custGeom>
            <a:avLst/>
            <a:gdLst>
              <a:gd name="connsiteX0" fmla="*/ 0 w 13681520"/>
              <a:gd name="connsiteY0" fmla="*/ 648072 h 1296144"/>
              <a:gd name="connsiteX1" fmla="*/ 6840760 w 13681520"/>
              <a:gd name="connsiteY1" fmla="*/ 0 h 1296144"/>
              <a:gd name="connsiteX2" fmla="*/ 13681520 w 13681520"/>
              <a:gd name="connsiteY2" fmla="*/ 648072 h 1296144"/>
              <a:gd name="connsiteX3" fmla="*/ 6840760 w 13681520"/>
              <a:gd name="connsiteY3" fmla="*/ 1296144 h 1296144"/>
              <a:gd name="connsiteX4" fmla="*/ 0 w 13681520"/>
              <a:gd name="connsiteY4" fmla="*/ 648072 h 1296144"/>
              <a:gd name="connsiteX0-1" fmla="*/ 387344 w 14068864"/>
              <a:gd name="connsiteY0-2" fmla="*/ 1051280 h 1699352"/>
              <a:gd name="connsiteX1-3" fmla="*/ 1533235 w 14068864"/>
              <a:gd name="connsiteY1-4" fmla="*/ 21899 h 1699352"/>
              <a:gd name="connsiteX2-5" fmla="*/ 7228104 w 14068864"/>
              <a:gd name="connsiteY2-6" fmla="*/ 403208 h 1699352"/>
              <a:gd name="connsiteX3-7" fmla="*/ 14068864 w 14068864"/>
              <a:gd name="connsiteY3-8" fmla="*/ 1051280 h 1699352"/>
              <a:gd name="connsiteX4-9" fmla="*/ 7228104 w 14068864"/>
              <a:gd name="connsiteY4-10" fmla="*/ 1699352 h 1699352"/>
              <a:gd name="connsiteX5" fmla="*/ 387344 w 14068864"/>
              <a:gd name="connsiteY5" fmla="*/ 1051280 h 1699352"/>
              <a:gd name="connsiteX0-11" fmla="*/ 387344 w 14068864"/>
              <a:gd name="connsiteY0-12" fmla="*/ 1038708 h 1686780"/>
              <a:gd name="connsiteX1-13" fmla="*/ 1533235 w 14068864"/>
              <a:gd name="connsiteY1-14" fmla="*/ 9327 h 1686780"/>
              <a:gd name="connsiteX2-15" fmla="*/ 7115088 w 14068864"/>
              <a:gd name="connsiteY2-16" fmla="*/ 935166 h 1686780"/>
              <a:gd name="connsiteX3-17" fmla="*/ 14068864 w 14068864"/>
              <a:gd name="connsiteY3-18" fmla="*/ 1038708 h 1686780"/>
              <a:gd name="connsiteX4-19" fmla="*/ 7228104 w 14068864"/>
              <a:gd name="connsiteY4-20" fmla="*/ 1686780 h 1686780"/>
              <a:gd name="connsiteX5-21" fmla="*/ 387344 w 14068864"/>
              <a:gd name="connsiteY5-22" fmla="*/ 1038708 h 1686780"/>
              <a:gd name="connsiteX0-23" fmla="*/ 387344 w 14164768"/>
              <a:gd name="connsiteY0-24" fmla="*/ 1037553 h 1685625"/>
              <a:gd name="connsiteX1-25" fmla="*/ 1533235 w 14164768"/>
              <a:gd name="connsiteY1-26" fmla="*/ 8172 h 1685625"/>
              <a:gd name="connsiteX2-27" fmla="*/ 7115088 w 14164768"/>
              <a:gd name="connsiteY2-28" fmla="*/ 934011 h 1685625"/>
              <a:gd name="connsiteX3-29" fmla="*/ 11386151 w 14164768"/>
              <a:gd name="connsiteY3-30" fmla="*/ 223929 h 1685625"/>
              <a:gd name="connsiteX4-31" fmla="*/ 14068864 w 14164768"/>
              <a:gd name="connsiteY4-32" fmla="*/ 1037553 h 1685625"/>
              <a:gd name="connsiteX5-33" fmla="*/ 7228104 w 14164768"/>
              <a:gd name="connsiteY5-34" fmla="*/ 1685625 h 1685625"/>
              <a:gd name="connsiteX6" fmla="*/ 387344 w 14164768"/>
              <a:gd name="connsiteY6" fmla="*/ 1037553 h 1685625"/>
              <a:gd name="connsiteX0-35" fmla="*/ 387344 w 14155157"/>
              <a:gd name="connsiteY0-36" fmla="*/ 1037553 h 1685625"/>
              <a:gd name="connsiteX1-37" fmla="*/ 1533235 w 14155157"/>
              <a:gd name="connsiteY1-38" fmla="*/ 8172 h 1685625"/>
              <a:gd name="connsiteX2-39" fmla="*/ 7115088 w 14155157"/>
              <a:gd name="connsiteY2-40" fmla="*/ 934011 h 1685625"/>
              <a:gd name="connsiteX3-41" fmla="*/ 11386151 w 14155157"/>
              <a:gd name="connsiteY3-42" fmla="*/ 223929 h 1685625"/>
              <a:gd name="connsiteX4-43" fmla="*/ 14068864 w 14155157"/>
              <a:gd name="connsiteY4-44" fmla="*/ 1037553 h 1685625"/>
              <a:gd name="connsiteX5-45" fmla="*/ 7228104 w 14155157"/>
              <a:gd name="connsiteY5-46" fmla="*/ 1685625 h 1685625"/>
              <a:gd name="connsiteX6-47" fmla="*/ 387344 w 14155157"/>
              <a:gd name="connsiteY6-48" fmla="*/ 1037553 h 1685625"/>
              <a:gd name="connsiteX0-49" fmla="*/ 387344 w 14158581"/>
              <a:gd name="connsiteY0-50" fmla="*/ 1037553 h 1685625"/>
              <a:gd name="connsiteX1-51" fmla="*/ 1533235 w 14158581"/>
              <a:gd name="connsiteY1-52" fmla="*/ 8172 h 1685625"/>
              <a:gd name="connsiteX2-53" fmla="*/ 7115088 w 14158581"/>
              <a:gd name="connsiteY2-54" fmla="*/ 934011 h 1685625"/>
              <a:gd name="connsiteX3-55" fmla="*/ 11386151 w 14158581"/>
              <a:gd name="connsiteY3-56" fmla="*/ 223929 h 1685625"/>
              <a:gd name="connsiteX4-57" fmla="*/ 14068864 w 14158581"/>
              <a:gd name="connsiteY4-58" fmla="*/ 1037553 h 1685625"/>
              <a:gd name="connsiteX5-59" fmla="*/ 7228104 w 14158581"/>
              <a:gd name="connsiteY5-60" fmla="*/ 1685625 h 1685625"/>
              <a:gd name="connsiteX6-61" fmla="*/ 387344 w 14158581"/>
              <a:gd name="connsiteY6-62" fmla="*/ 1037553 h 1685625"/>
              <a:gd name="connsiteX0-63" fmla="*/ 387344 w 14164525"/>
              <a:gd name="connsiteY0-64" fmla="*/ 1043987 h 1692059"/>
              <a:gd name="connsiteX1-65" fmla="*/ 1533235 w 14164525"/>
              <a:gd name="connsiteY1-66" fmla="*/ 14606 h 1692059"/>
              <a:gd name="connsiteX2-67" fmla="*/ 7156184 w 14164525"/>
              <a:gd name="connsiteY2-68" fmla="*/ 467834 h 1692059"/>
              <a:gd name="connsiteX3-69" fmla="*/ 11386151 w 14164525"/>
              <a:gd name="connsiteY3-70" fmla="*/ 230363 h 1692059"/>
              <a:gd name="connsiteX4-71" fmla="*/ 14068864 w 14164525"/>
              <a:gd name="connsiteY4-72" fmla="*/ 1043987 h 1692059"/>
              <a:gd name="connsiteX5-73" fmla="*/ 7228104 w 14164525"/>
              <a:gd name="connsiteY5-74" fmla="*/ 1692059 h 1692059"/>
              <a:gd name="connsiteX6-75" fmla="*/ 387344 w 14164525"/>
              <a:gd name="connsiteY6-76" fmla="*/ 1043987 h 1692059"/>
              <a:gd name="connsiteX0-77" fmla="*/ 387344 w 14163771"/>
              <a:gd name="connsiteY0-78" fmla="*/ 1045636 h 1693708"/>
              <a:gd name="connsiteX1-79" fmla="*/ 1533235 w 14163771"/>
              <a:gd name="connsiteY1-80" fmla="*/ 16255 h 1693708"/>
              <a:gd name="connsiteX2-81" fmla="*/ 7156184 w 14163771"/>
              <a:gd name="connsiteY2-82" fmla="*/ 469483 h 1693708"/>
              <a:gd name="connsiteX3-83" fmla="*/ 11365603 w 14163771"/>
              <a:gd name="connsiteY3-84" fmla="*/ 612156 h 1693708"/>
              <a:gd name="connsiteX4-85" fmla="*/ 14068864 w 14163771"/>
              <a:gd name="connsiteY4-86" fmla="*/ 1045636 h 1693708"/>
              <a:gd name="connsiteX5-87" fmla="*/ 7228104 w 14163771"/>
              <a:gd name="connsiteY5-88" fmla="*/ 1693708 h 1693708"/>
              <a:gd name="connsiteX6-89" fmla="*/ 387344 w 14163771"/>
              <a:gd name="connsiteY6-90" fmla="*/ 1045636 h 1693708"/>
              <a:gd name="connsiteX0-91" fmla="*/ 387344 w 14313266"/>
              <a:gd name="connsiteY0-92" fmla="*/ 1045636 h 1693708"/>
              <a:gd name="connsiteX1-93" fmla="*/ 1533235 w 14313266"/>
              <a:gd name="connsiteY1-94" fmla="*/ 16255 h 1693708"/>
              <a:gd name="connsiteX2-95" fmla="*/ 7156184 w 14313266"/>
              <a:gd name="connsiteY2-96" fmla="*/ 469483 h 1693708"/>
              <a:gd name="connsiteX3-97" fmla="*/ 11365603 w 14313266"/>
              <a:gd name="connsiteY3-98" fmla="*/ 612156 h 1693708"/>
              <a:gd name="connsiteX4-99" fmla="*/ 12721793 w 14313266"/>
              <a:gd name="connsiteY4-100" fmla="*/ 797092 h 1693708"/>
              <a:gd name="connsiteX5-101" fmla="*/ 14068864 w 14313266"/>
              <a:gd name="connsiteY5-102" fmla="*/ 1045636 h 1693708"/>
              <a:gd name="connsiteX6-103" fmla="*/ 7228104 w 14313266"/>
              <a:gd name="connsiteY6-104" fmla="*/ 1693708 h 1693708"/>
              <a:gd name="connsiteX7" fmla="*/ 387344 w 14313266"/>
              <a:gd name="connsiteY7" fmla="*/ 1045636 h 1693708"/>
              <a:gd name="connsiteX0-105" fmla="*/ 387344 w 14313266"/>
              <a:gd name="connsiteY0-106" fmla="*/ 1044530 h 1692602"/>
              <a:gd name="connsiteX1-107" fmla="*/ 1533235 w 14313266"/>
              <a:gd name="connsiteY1-108" fmla="*/ 15149 h 1692602"/>
              <a:gd name="connsiteX2-109" fmla="*/ 7156184 w 14313266"/>
              <a:gd name="connsiteY2-110" fmla="*/ 468377 h 1692602"/>
              <a:gd name="connsiteX3-111" fmla="*/ 11386151 w 14313266"/>
              <a:gd name="connsiteY3-112" fmla="*/ 364470 h 1692602"/>
              <a:gd name="connsiteX4-113" fmla="*/ 12721793 w 14313266"/>
              <a:gd name="connsiteY4-114" fmla="*/ 795986 h 1692602"/>
              <a:gd name="connsiteX5-115" fmla="*/ 14068864 w 14313266"/>
              <a:gd name="connsiteY5-116" fmla="*/ 1044530 h 1692602"/>
              <a:gd name="connsiteX6-117" fmla="*/ 7228104 w 14313266"/>
              <a:gd name="connsiteY6-118" fmla="*/ 1692602 h 1692602"/>
              <a:gd name="connsiteX7-119" fmla="*/ 387344 w 14313266"/>
              <a:gd name="connsiteY7-120" fmla="*/ 1044530 h 1692602"/>
              <a:gd name="connsiteX0-121" fmla="*/ 387344 w 14340232"/>
              <a:gd name="connsiteY0-122" fmla="*/ 1044530 h 1692602"/>
              <a:gd name="connsiteX1-123" fmla="*/ 1533235 w 14340232"/>
              <a:gd name="connsiteY1-124" fmla="*/ 15149 h 1692602"/>
              <a:gd name="connsiteX2-125" fmla="*/ 7156184 w 14340232"/>
              <a:gd name="connsiteY2-126" fmla="*/ 468377 h 1692602"/>
              <a:gd name="connsiteX3-127" fmla="*/ 11386151 w 14340232"/>
              <a:gd name="connsiteY3-128" fmla="*/ 364470 h 1692602"/>
              <a:gd name="connsiteX4-129" fmla="*/ 12968373 w 14340232"/>
              <a:gd name="connsiteY4-130" fmla="*/ 621326 h 1692602"/>
              <a:gd name="connsiteX5-131" fmla="*/ 14068864 w 14340232"/>
              <a:gd name="connsiteY5-132" fmla="*/ 1044530 h 1692602"/>
              <a:gd name="connsiteX6-133" fmla="*/ 7228104 w 14340232"/>
              <a:gd name="connsiteY6-134" fmla="*/ 1692602 h 1692602"/>
              <a:gd name="connsiteX7-135" fmla="*/ 387344 w 14340232"/>
              <a:gd name="connsiteY7-136" fmla="*/ 1044530 h 1692602"/>
              <a:gd name="connsiteX0-137" fmla="*/ 416306 w 14369194"/>
              <a:gd name="connsiteY0-138" fmla="*/ 1817337 h 2465409"/>
              <a:gd name="connsiteX1-139" fmla="*/ 1459455 w 14369194"/>
              <a:gd name="connsiteY1-140" fmla="*/ 7120 h 2465409"/>
              <a:gd name="connsiteX2-141" fmla="*/ 7185146 w 14369194"/>
              <a:gd name="connsiteY2-142" fmla="*/ 1241184 h 2465409"/>
              <a:gd name="connsiteX3-143" fmla="*/ 11415113 w 14369194"/>
              <a:gd name="connsiteY3-144" fmla="*/ 1137277 h 2465409"/>
              <a:gd name="connsiteX4-145" fmla="*/ 12997335 w 14369194"/>
              <a:gd name="connsiteY4-146" fmla="*/ 1394133 h 2465409"/>
              <a:gd name="connsiteX5-147" fmla="*/ 14097826 w 14369194"/>
              <a:gd name="connsiteY5-148" fmla="*/ 1817337 h 2465409"/>
              <a:gd name="connsiteX6-149" fmla="*/ 7257066 w 14369194"/>
              <a:gd name="connsiteY6-150" fmla="*/ 2465409 h 2465409"/>
              <a:gd name="connsiteX7-151" fmla="*/ 416306 w 14369194"/>
              <a:gd name="connsiteY7-152" fmla="*/ 1817337 h 2465409"/>
              <a:gd name="connsiteX0-153" fmla="*/ 416306 w 14369194"/>
              <a:gd name="connsiteY0-154" fmla="*/ 1816646 h 2464718"/>
              <a:gd name="connsiteX1-155" fmla="*/ 1459455 w 14369194"/>
              <a:gd name="connsiteY1-156" fmla="*/ 6429 h 2464718"/>
              <a:gd name="connsiteX2-157" fmla="*/ 7185146 w 14369194"/>
              <a:gd name="connsiteY2-158" fmla="*/ 1240493 h 2464718"/>
              <a:gd name="connsiteX3-159" fmla="*/ 10608289 w 14369194"/>
              <a:gd name="connsiteY3-160" fmla="*/ 329762 h 2464718"/>
              <a:gd name="connsiteX4-161" fmla="*/ 12997335 w 14369194"/>
              <a:gd name="connsiteY4-162" fmla="*/ 1393442 h 2464718"/>
              <a:gd name="connsiteX5-163" fmla="*/ 14097826 w 14369194"/>
              <a:gd name="connsiteY5-164" fmla="*/ 1816646 h 2464718"/>
              <a:gd name="connsiteX6-165" fmla="*/ 7257066 w 14369194"/>
              <a:gd name="connsiteY6-166" fmla="*/ 2464718 h 2464718"/>
              <a:gd name="connsiteX7-167" fmla="*/ 416306 w 14369194"/>
              <a:gd name="connsiteY7-168" fmla="*/ 1816646 h 2464718"/>
              <a:gd name="connsiteX0-169" fmla="*/ 416306 w 14358522"/>
              <a:gd name="connsiteY0-170" fmla="*/ 1816646 h 2464718"/>
              <a:gd name="connsiteX1-171" fmla="*/ 1459455 w 14358522"/>
              <a:gd name="connsiteY1-172" fmla="*/ 6429 h 2464718"/>
              <a:gd name="connsiteX2-173" fmla="*/ 7185146 w 14358522"/>
              <a:gd name="connsiteY2-174" fmla="*/ 1240493 h 2464718"/>
              <a:gd name="connsiteX3-175" fmla="*/ 10608289 w 14358522"/>
              <a:gd name="connsiteY3-176" fmla="*/ 329762 h 2464718"/>
              <a:gd name="connsiteX4-177" fmla="*/ 11627123 w 14358522"/>
              <a:gd name="connsiteY4-178" fmla="*/ 1204517 h 2464718"/>
              <a:gd name="connsiteX5-179" fmla="*/ 12997335 w 14358522"/>
              <a:gd name="connsiteY5-180" fmla="*/ 1393442 h 2464718"/>
              <a:gd name="connsiteX6-181" fmla="*/ 14097826 w 14358522"/>
              <a:gd name="connsiteY6-182" fmla="*/ 1816646 h 2464718"/>
              <a:gd name="connsiteX7-183" fmla="*/ 7257066 w 14358522"/>
              <a:gd name="connsiteY7-184" fmla="*/ 2464718 h 2464718"/>
              <a:gd name="connsiteX8" fmla="*/ 416306 w 14358522"/>
              <a:gd name="connsiteY8" fmla="*/ 1816646 h 2464718"/>
              <a:gd name="connsiteX0-185" fmla="*/ 416306 w 14417504"/>
              <a:gd name="connsiteY0-186" fmla="*/ 1816646 h 2464718"/>
              <a:gd name="connsiteX1-187" fmla="*/ 1459455 w 14417504"/>
              <a:gd name="connsiteY1-188" fmla="*/ 6429 h 2464718"/>
              <a:gd name="connsiteX2-189" fmla="*/ 7185146 w 14417504"/>
              <a:gd name="connsiteY2-190" fmla="*/ 1240493 h 2464718"/>
              <a:gd name="connsiteX3-191" fmla="*/ 10608289 w 14417504"/>
              <a:gd name="connsiteY3-192" fmla="*/ 329762 h 2464718"/>
              <a:gd name="connsiteX4-193" fmla="*/ 11627123 w 14417504"/>
              <a:gd name="connsiteY4-194" fmla="*/ 1204517 h 2464718"/>
              <a:gd name="connsiteX5-195" fmla="*/ 13427640 w 14417504"/>
              <a:gd name="connsiteY5-196" fmla="*/ 1124501 h 2464718"/>
              <a:gd name="connsiteX6-197" fmla="*/ 14097826 w 14417504"/>
              <a:gd name="connsiteY6-198" fmla="*/ 1816646 h 2464718"/>
              <a:gd name="connsiteX7-199" fmla="*/ 7257066 w 14417504"/>
              <a:gd name="connsiteY7-200" fmla="*/ 2464718 h 2464718"/>
              <a:gd name="connsiteX8-201" fmla="*/ 416306 w 14417504"/>
              <a:gd name="connsiteY8-202" fmla="*/ 1816646 h 24647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47" y="connsiteY6-48"/>
              </a:cxn>
              <a:cxn ang="0">
                <a:pos x="connsiteX7-119" y="connsiteY7-120"/>
              </a:cxn>
              <a:cxn ang="0">
                <a:pos x="connsiteX8-201" y="connsiteY8-202"/>
              </a:cxn>
            </a:cxnLst>
            <a:rect l="l" t="t" r="r" b="b"/>
            <a:pathLst>
              <a:path w="14417504" h="2464718">
                <a:moveTo>
                  <a:pt x="416306" y="1816646"/>
                </a:moveTo>
                <a:cubicBezTo>
                  <a:pt x="-549962" y="1406931"/>
                  <a:pt x="319328" y="114441"/>
                  <a:pt x="1459455" y="6429"/>
                </a:cubicBezTo>
                <a:cubicBezTo>
                  <a:pt x="2599582" y="-101583"/>
                  <a:pt x="5660340" y="1186604"/>
                  <a:pt x="7185146" y="1240493"/>
                </a:cubicBezTo>
                <a:cubicBezTo>
                  <a:pt x="8709952" y="1294382"/>
                  <a:pt x="9867960" y="335758"/>
                  <a:pt x="10608289" y="329762"/>
                </a:cubicBezTo>
                <a:cubicBezTo>
                  <a:pt x="11348618" y="323766"/>
                  <a:pt x="11228949" y="1027237"/>
                  <a:pt x="11627123" y="1204517"/>
                </a:cubicBezTo>
                <a:cubicBezTo>
                  <a:pt x="12025297" y="1381797"/>
                  <a:pt x="13076816" y="966898"/>
                  <a:pt x="13427640" y="1124501"/>
                </a:cubicBezTo>
                <a:cubicBezTo>
                  <a:pt x="13778464" y="1282104"/>
                  <a:pt x="14986043" y="1651799"/>
                  <a:pt x="14097826" y="1816646"/>
                </a:cubicBezTo>
                <a:cubicBezTo>
                  <a:pt x="13209609" y="1981493"/>
                  <a:pt x="11035113" y="2464718"/>
                  <a:pt x="7257066" y="2464718"/>
                </a:cubicBezTo>
                <a:cubicBezTo>
                  <a:pt x="3479019" y="2464718"/>
                  <a:pt x="1382574" y="2226361"/>
                  <a:pt x="416306" y="181664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37" name="直接连接符 36"/>
          <p:cNvCxnSpPr/>
          <p:nvPr/>
        </p:nvCxnSpPr>
        <p:spPr>
          <a:xfrm>
            <a:off x="1774726" y="4101609"/>
            <a:ext cx="86409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爆炸形 1 11"/>
          <p:cNvSpPr/>
          <p:nvPr/>
        </p:nvSpPr>
        <p:spPr>
          <a:xfrm>
            <a:off x="5159375" y="5733415"/>
            <a:ext cx="7030720" cy="1028700"/>
          </a:xfrm>
          <a:prstGeom prst="irregularSeal1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Rounded Rectangle 2"/>
          <p:cNvSpPr/>
          <p:nvPr/>
        </p:nvSpPr>
        <p:spPr>
          <a:xfrm>
            <a:off x="549910" y="620395"/>
            <a:ext cx="3674110" cy="15582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5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传统</a:t>
            </a:r>
            <a:b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输入→模型→预测→结束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22975" y="641985"/>
            <a:ext cx="4580255" cy="15367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5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现实</a:t>
            </a:r>
            <a:b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观察→推理→工具→决策→反馈→学习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71085" y="1124585"/>
            <a:ext cx="903605" cy="10972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t>VS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871085" y="2997200"/>
            <a:ext cx="681101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b="0" i="0">
                <a:solidFill>
                  <a:srgbClr val="000000"/>
                </a:solidFill>
              </a:rPr>
              <a:t>Forecast</a:t>
            </a:r>
            <a:r>
              <a:rPr lang="zh-CN" altLang="en-US" b="0" i="0">
                <a:solidFill>
                  <a:srgbClr val="000000"/>
                </a:solidFill>
              </a:rPr>
              <a:t>只是决策中的</a:t>
            </a:r>
            <a:r>
              <a:rPr lang="zh-CN" altLang="en-US" b="0" i="0">
                <a:solidFill>
                  <a:srgbClr val="000000"/>
                </a:solidFill>
                <a:highlight>
                  <a:srgbClr val="C0C0C0"/>
                </a:highlight>
              </a:rPr>
              <a:t>一步</a:t>
            </a:r>
            <a:r>
              <a:rPr lang="zh-CN" altLang="en-US" b="0" i="0">
                <a:solidFill>
                  <a:srgbClr val="000000"/>
                </a:solidFill>
              </a:rPr>
              <a:t>。</a:t>
            </a:r>
            <a:endParaRPr lang="zh-CN" altLang="en-US" b="0" i="0">
              <a:solidFill>
                <a:srgbClr val="000000"/>
              </a:solidFill>
            </a:endParaRPr>
          </a:p>
          <a:p>
            <a:pPr marL="0" indent="0"/>
            <a:r>
              <a:rPr lang="zh-CN" altLang="en-US" b="0" i="0">
                <a:solidFill>
                  <a:srgbClr val="000000"/>
                </a:solidFill>
              </a:rPr>
              <a:t>真正业务需要的是：持续观察、持续分析、持续决策、持续学习。</a:t>
            </a:r>
            <a:endParaRPr lang="zh-CN" altLang="en-US" b="0" i="0">
              <a:solidFill>
                <a:srgbClr val="000000"/>
              </a:solidFill>
            </a:endParaRPr>
          </a:p>
          <a:p>
            <a:pPr marL="0" indent="0"/>
            <a:r>
              <a:rPr lang="zh-CN" altLang="en-US" b="0" i="0">
                <a:solidFill>
                  <a:srgbClr val="000000"/>
                </a:solidFill>
              </a:rPr>
              <a:t>所以作者提出：</a:t>
            </a:r>
            <a:r>
              <a:rPr lang="en-US" altLang="zh-CN" b="0" i="0">
                <a:solidFill>
                  <a:srgbClr val="000000"/>
                </a:solidFill>
              </a:rPr>
              <a:t>Agent</a:t>
            </a:r>
            <a:r>
              <a:rPr lang="zh-CN" altLang="en-US" b="0" i="0">
                <a:solidFill>
                  <a:srgbClr val="000000"/>
                </a:solidFill>
              </a:rPr>
              <a:t>。</a:t>
            </a:r>
            <a:endParaRPr lang="zh-CN" altLang="en-US" b="0" i="0">
              <a:solidFill>
                <a:srgbClr val="0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6400" y="2348865"/>
            <a:ext cx="10985500" cy="19996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000000"/>
                </a:solidFill>
              </a:rPr>
              <a:t>无论股票、天气、电力还是交通。模型做完预测。任务结束。但是现实世界不是这样。举一个股票交易例子。</a:t>
            </a:r>
            <a:endParaRPr lang="zh-CN" altLang="en-US" sz="1600" b="0" i="0">
              <a:solidFill>
                <a:srgbClr val="000000"/>
              </a:solidFill>
            </a:endParaRPr>
          </a:p>
          <a:p>
            <a:pPr marL="0" indent="0"/>
            <a:r>
              <a:rPr lang="zh-CN" altLang="en-US" sz="1600" b="0" i="0">
                <a:solidFill>
                  <a:srgbClr val="000000"/>
                </a:solidFill>
              </a:rPr>
              <a:t>假设模型预测：</a:t>
            </a:r>
            <a:endParaRPr lang="zh-CN" altLang="en-US" sz="1600" b="0" i="0">
              <a:solidFill>
                <a:srgbClr val="000000"/>
              </a:solidFill>
            </a:endParaRPr>
          </a:p>
          <a:p>
            <a:pPr marL="0" indent="0"/>
            <a:r>
              <a:rPr lang="zh-CN" altLang="en-US" sz="1600" b="0" i="0">
                <a:solidFill>
                  <a:srgbClr val="000000"/>
                </a:solidFill>
              </a:rPr>
              <a:t>明天上涨</a:t>
            </a:r>
            <a:r>
              <a:rPr lang="en-US" altLang="zh-CN" sz="1600" b="0" i="0">
                <a:solidFill>
                  <a:srgbClr val="000000"/>
                </a:solidFill>
              </a:rPr>
              <a:t>3%</a:t>
            </a:r>
            <a:r>
              <a:rPr lang="zh-CN" altLang="en-US" sz="1600" b="0" i="0">
                <a:solidFill>
                  <a:srgbClr val="000000"/>
                </a:solidFill>
              </a:rPr>
              <a:t>。</a:t>
            </a:r>
            <a:endParaRPr lang="zh-CN" altLang="en-US" sz="1600" b="0" i="0">
              <a:solidFill>
                <a:srgbClr val="000000"/>
              </a:solidFill>
            </a:endParaRPr>
          </a:p>
          <a:p>
            <a:pPr marL="0" indent="0"/>
            <a:r>
              <a:rPr lang="zh-CN" altLang="en-US" sz="1600" b="0" i="0">
                <a:solidFill>
                  <a:srgbClr val="000000"/>
                </a:solidFill>
              </a:rPr>
              <a:t>那么真正的问题来了。</a:t>
            </a:r>
            <a:endParaRPr lang="zh-CN" altLang="en-US" sz="1600" b="0" i="0">
              <a:solidFill>
                <a:srgbClr val="000000"/>
              </a:solidFill>
            </a:endParaRPr>
          </a:p>
          <a:p>
            <a:pPr marL="0" indent="0"/>
            <a:r>
              <a:rPr lang="zh-CN" altLang="en-US" sz="2800" b="0" i="0">
                <a:solidFill>
                  <a:srgbClr val="000000"/>
                </a:solidFill>
              </a:rPr>
              <a:t>可以买了吗？</a:t>
            </a:r>
            <a:endParaRPr lang="zh-CN" altLang="en-US" sz="2800" b="0" i="0">
              <a:solidFill>
                <a:srgbClr val="000000"/>
              </a:solidFill>
            </a:endParaRPr>
          </a:p>
          <a:p>
            <a:pPr marL="0" indent="0"/>
            <a:r>
              <a:rPr lang="zh-CN" altLang="en-US" sz="1600" b="0" i="0">
                <a:solidFill>
                  <a:srgbClr val="000000"/>
                </a:solidFill>
              </a:rPr>
              <a:t>不能。</a:t>
            </a:r>
            <a:endParaRPr lang="zh-CN" altLang="en-US" sz="1600" b="0" i="0">
              <a:solidFill>
                <a:srgbClr val="000000"/>
              </a:solidFill>
            </a:endParaRPr>
          </a:p>
          <a:p>
            <a:pPr marL="0" indent="0"/>
            <a:endParaRPr lang="zh-CN" altLang="en-US" sz="1600" b="0" i="0">
              <a:solidFill>
                <a:srgbClr val="000000"/>
              </a:solidFill>
            </a:endParaRPr>
          </a:p>
        </p:txBody>
      </p:sp>
      <p:sp>
        <p:nvSpPr>
          <p:cNvPr id="9" name="矩形标注 8"/>
          <p:cNvSpPr/>
          <p:nvPr/>
        </p:nvSpPr>
        <p:spPr>
          <a:xfrm>
            <a:off x="2134235" y="3856990"/>
            <a:ext cx="2700655" cy="1998980"/>
          </a:xfrm>
          <a:prstGeom prst="wedgeRectCallou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/>
            <a:r>
              <a:rPr lang="zh-CN" altLang="en-US">
                <a:solidFill>
                  <a:srgbClr val="000000"/>
                </a:solidFill>
                <a:sym typeface="+mn-ea"/>
              </a:rPr>
              <a:t>因为你还需要知道：</a:t>
            </a:r>
            <a:endParaRPr lang="zh-CN" altLang="en-US" b="0" i="0">
              <a:solidFill>
                <a:srgbClr val="000000"/>
              </a:solidFill>
            </a:endParaRPr>
          </a:p>
          <a:p>
            <a:pPr marL="0" indent="0"/>
            <a:r>
              <a:rPr lang="zh-CN" altLang="en-US">
                <a:solidFill>
                  <a:srgbClr val="000000"/>
                </a:solidFill>
                <a:sym typeface="+mn-ea"/>
              </a:rPr>
              <a:t>上涨原因是什么？</a:t>
            </a:r>
            <a:endParaRPr lang="zh-CN" altLang="en-US" b="0" i="0">
              <a:solidFill>
                <a:srgbClr val="000000"/>
              </a:solidFill>
            </a:endParaRPr>
          </a:p>
          <a:p>
            <a:pPr marL="0" indent="0"/>
            <a:r>
              <a:rPr lang="zh-CN" altLang="en-US">
                <a:solidFill>
                  <a:srgbClr val="000000"/>
                </a:solidFill>
                <a:sym typeface="+mn-ea"/>
              </a:rPr>
              <a:t>风险大不大？</a:t>
            </a:r>
            <a:endParaRPr lang="zh-CN" altLang="en-US" b="0" i="0">
              <a:solidFill>
                <a:srgbClr val="000000"/>
              </a:solidFill>
            </a:endParaRPr>
          </a:p>
          <a:p>
            <a:pPr marL="0" indent="0"/>
            <a:r>
              <a:rPr lang="zh-CN" altLang="en-US">
                <a:solidFill>
                  <a:srgbClr val="000000"/>
                </a:solidFill>
                <a:sym typeface="+mn-ea"/>
              </a:rPr>
              <a:t>什么时候买？</a:t>
            </a:r>
            <a:endParaRPr lang="zh-CN" altLang="en-US" b="0" i="0">
              <a:solidFill>
                <a:srgbClr val="000000"/>
              </a:solidFill>
            </a:endParaRPr>
          </a:p>
          <a:p>
            <a:pPr marL="0" indent="0"/>
            <a:r>
              <a:rPr lang="zh-CN" altLang="en-US">
                <a:solidFill>
                  <a:srgbClr val="000000"/>
                </a:solidFill>
                <a:sym typeface="+mn-ea"/>
              </a:rPr>
              <a:t>买多少？</a:t>
            </a:r>
            <a:endParaRPr lang="zh-CN" altLang="en-US" b="0" i="0">
              <a:solidFill>
                <a:srgbClr val="000000"/>
              </a:solidFill>
            </a:endParaRPr>
          </a:p>
          <a:p>
            <a:pPr marL="0" indent="0"/>
            <a:r>
              <a:rPr lang="zh-CN" altLang="en-US">
                <a:solidFill>
                  <a:srgbClr val="000000"/>
                </a:solidFill>
                <a:sym typeface="+mn-ea"/>
              </a:rPr>
              <a:t>什么时候卖？</a:t>
            </a:r>
            <a:endParaRPr lang="zh-CN" altLang="en-US" b="0" i="0">
              <a:solidFill>
                <a:srgbClr val="000000"/>
              </a:solidFill>
            </a:endParaRPr>
          </a:p>
          <a:p>
            <a:pPr marL="0" indent="0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946140" y="606933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highlight>
                  <a:srgbClr val="C0C0C0"/>
                </a:highlight>
              </a:rPr>
              <a:t>时间序列分析正从</a:t>
            </a:r>
            <a:r>
              <a:rPr lang="en-US" altLang="zh-CN">
                <a:highlight>
                  <a:srgbClr val="C0C0C0"/>
                </a:highlight>
              </a:rPr>
              <a:t>"</a:t>
            </a:r>
            <a:r>
              <a:rPr lang="zh-CN" altLang="en-US">
                <a:highlight>
                  <a:srgbClr val="C0C0C0"/>
                </a:highlight>
              </a:rPr>
              <a:t>模型中心的预测</a:t>
            </a:r>
            <a:r>
              <a:rPr lang="en-US" altLang="zh-CN">
                <a:highlight>
                  <a:srgbClr val="C0C0C0"/>
                </a:highlight>
              </a:rPr>
              <a:t>"</a:t>
            </a:r>
            <a:r>
              <a:rPr lang="zh-CN" altLang="en-US">
                <a:highlight>
                  <a:srgbClr val="C0C0C0"/>
                </a:highlight>
              </a:rPr>
              <a:t>转向闭环智能体系统</a:t>
            </a:r>
            <a:endParaRPr lang="zh-CN" altLang="en-US">
              <a:highlight>
                <a:srgbClr val="C0C0C0"/>
              </a:highligh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4645" y="18859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</a:t>
            </a:r>
            <a:r>
              <a:rPr lang="zh-CN" altLang="en-US"/>
              <a:t>一、核心主张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303202" y="4371658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Forecast</a:t>
            </a:r>
            <a:r>
              <a:rPr lang="zh-CN" altLang="en-US" sz="1600" b="0" i="0">
                <a:solidFill>
                  <a:srgbClr val="000000"/>
                </a:solidFill>
              </a:rPr>
              <a:t>回答：</a:t>
            </a:r>
            <a:endParaRPr lang="zh-CN" altLang="en-US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What will happen?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Agent</a:t>
            </a:r>
            <a:r>
              <a:rPr lang="zh-CN" altLang="en-US" sz="1600" b="0" i="0">
                <a:solidFill>
                  <a:srgbClr val="000000"/>
                </a:solidFill>
              </a:rPr>
              <a:t>回答：</a:t>
            </a:r>
            <a:endParaRPr lang="zh-CN" altLang="en-US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What should I do?</a:t>
            </a:r>
            <a:endParaRPr lang="en-US" altLang="zh-CN" sz="1600" b="0" i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09955" y="486410"/>
            <a:ext cx="8451215" cy="23069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/>
              <a:t>普通预测模型的问题不是“不准”，而是：</a:t>
            </a:r>
            <a:endParaRPr lang="zh-CN" altLang="en-US" sz="2400"/>
          </a:p>
          <a:p>
            <a:pPr>
              <a:buFont typeface="Arial" panose="020B0704020202020204"/>
              <a:buChar char="•"/>
            </a:pPr>
            <a:r>
              <a:rPr lang="zh-CN" altLang="en-US" sz="2400"/>
              <a:t>只输出 </a:t>
            </a:r>
            <a:r>
              <a:rPr lang="en-US" altLang="zh-CN" sz="2400"/>
              <a:t>forecast</a:t>
            </a:r>
            <a:r>
              <a:rPr lang="zh-CN" altLang="en-US" sz="2400"/>
              <a:t>，不知道下一步怎么做；</a:t>
            </a:r>
            <a:endParaRPr lang="zh-CN" altLang="en-US" sz="2400"/>
          </a:p>
          <a:p>
            <a:pPr>
              <a:buFont typeface="Arial" panose="020B0704020202020204"/>
              <a:buChar char="•"/>
            </a:pPr>
            <a:r>
              <a:rPr lang="zh-CN" altLang="en-US" sz="2400"/>
              <a:t>不处理反馈；</a:t>
            </a:r>
            <a:endParaRPr lang="zh-CN" altLang="en-US" sz="2400"/>
          </a:p>
          <a:p>
            <a:pPr>
              <a:buFont typeface="Arial" panose="020B0704020202020204"/>
              <a:buChar char="•"/>
            </a:pPr>
            <a:r>
              <a:rPr lang="zh-CN" altLang="en-US" sz="2400"/>
              <a:t>不记住历史失败；</a:t>
            </a:r>
            <a:endParaRPr lang="zh-CN" altLang="en-US" sz="2400"/>
          </a:p>
          <a:p>
            <a:pPr>
              <a:buFont typeface="Arial" panose="020B0704020202020204"/>
              <a:buChar char="•"/>
            </a:pPr>
            <a:r>
              <a:rPr lang="zh-CN" altLang="en-US" sz="2400"/>
              <a:t>不知道什么时候该调用工具、验证、放弃或交给人；</a:t>
            </a:r>
            <a:endParaRPr lang="zh-CN" altLang="en-US" sz="2400"/>
          </a:p>
          <a:p>
            <a:pPr>
              <a:buFont typeface="Arial" panose="020B0704020202020204"/>
              <a:buChar char="•"/>
            </a:pPr>
            <a:r>
              <a:rPr lang="zh-CN" altLang="en-US" sz="2400"/>
              <a:t>评价指标停留在 </a:t>
            </a:r>
            <a:r>
              <a:rPr lang="en-US" altLang="zh-CN" sz="2400"/>
              <a:t>MAE/RMSE</a:t>
            </a:r>
            <a:r>
              <a:rPr lang="zh-CN" altLang="en-US" sz="2400"/>
              <a:t>，不能衡量决策后果。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2125980" y="4437380"/>
            <a:ext cx="9106535" cy="15684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400"/>
              <a:t>Foundation Model</a:t>
            </a:r>
            <a:r>
              <a:rPr lang="zh-CN" altLang="en-US" sz="2400"/>
              <a:t>：更强的时间序列表示和泛化能力；</a:t>
            </a:r>
            <a:endParaRPr lang="zh-CN" altLang="en-US" sz="2400"/>
          </a:p>
          <a:p>
            <a:r>
              <a:rPr lang="en-US" altLang="zh-CN" sz="2400"/>
              <a:t>Translator</a:t>
            </a:r>
            <a:r>
              <a:rPr lang="zh-CN" altLang="en-US" sz="2400"/>
              <a:t>：把时间序列和语言</a:t>
            </a:r>
            <a:r>
              <a:rPr lang="en-US" altLang="zh-CN" sz="2400"/>
              <a:t>/</a:t>
            </a:r>
            <a:r>
              <a:rPr lang="zh-CN" altLang="en-US" sz="2400"/>
              <a:t>图像</a:t>
            </a:r>
            <a:r>
              <a:rPr lang="en-US" altLang="zh-CN" sz="2400"/>
              <a:t>/</a:t>
            </a:r>
            <a:r>
              <a:rPr lang="zh-CN" altLang="en-US" sz="2400"/>
              <a:t>语义空间连接起来；</a:t>
            </a:r>
            <a:endParaRPr lang="zh-CN" altLang="en-US" sz="2400"/>
          </a:p>
          <a:p>
            <a:r>
              <a:rPr lang="en-US" altLang="zh-CN" sz="2400"/>
              <a:t>Reasoner</a:t>
            </a:r>
            <a:r>
              <a:rPr lang="zh-CN" altLang="en-US" sz="2400"/>
              <a:t>：能解释趋势、异常、因果、周期等；</a:t>
            </a:r>
            <a:endParaRPr lang="zh-CN" altLang="en-US" sz="2400"/>
          </a:p>
          <a:p>
            <a:r>
              <a:rPr lang="en-US" altLang="zh-CN" sz="2400"/>
              <a:t>Agent</a:t>
            </a:r>
            <a:r>
              <a:rPr lang="zh-CN" altLang="en-US" sz="2400"/>
              <a:t>：进入闭环，能选择工具、行动、接收反馈、更新状态。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4727257" y="344646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提出“四种范式”</a:t>
            </a:r>
            <a:endParaRPr lang="zh-CN" altLang="en-US" sz="1600"/>
          </a:p>
        </p:txBody>
      </p:sp>
      <p:sp>
        <p:nvSpPr>
          <p:cNvPr id="5" name="下箭头 4"/>
          <p:cNvSpPr/>
          <p:nvPr/>
        </p:nvSpPr>
        <p:spPr>
          <a:xfrm>
            <a:off x="2998470" y="3140710"/>
            <a:ext cx="791845" cy="108013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5047" y="2472690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0">
                <a:solidFill>
                  <a:srgbClr val="000000"/>
                </a:solidFill>
              </a:rPr>
              <a:t>建议画表。</a:t>
            </a:r>
            <a:endParaRPr lang="zh-CN" altLang="en-US" sz="1600" b="0" i="0">
              <a:solidFill>
                <a:srgbClr val="000000"/>
              </a:solidFill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22300" y="476885"/>
          <a:ext cx="10279380" cy="3670300"/>
        </p:xfrm>
        <a:graphic>
          <a:graphicData uri="http://schemas.openxmlformats.org/drawingml/2006/table">
            <a:tbl>
              <a:tblPr/>
              <a:tblGrid>
                <a:gridCol w="1713230"/>
                <a:gridCol w="1713230"/>
                <a:gridCol w="1713230"/>
                <a:gridCol w="1713230"/>
                <a:gridCol w="1713230"/>
                <a:gridCol w="1713230"/>
              </a:tblGrid>
              <a:tr h="734060">
                <a:tc>
                  <a:txBody>
                    <a:bodyPr/>
                    <a:p>
                      <a:r>
                        <a:rPr lang="en-US" altLang="zh-CN" sz="2000"/>
                        <a:t>Paradigm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2000"/>
                        <a:t>会预测</a:t>
                      </a:r>
                      <a:endParaRPr lang="zh-CN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2000"/>
                        <a:t>会推理</a:t>
                      </a:r>
                      <a:endParaRPr lang="zh-CN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2000"/>
                        <a:t>会工具</a:t>
                      </a:r>
                      <a:endParaRPr lang="zh-CN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2000"/>
                        <a:t>会记忆</a:t>
                      </a:r>
                      <a:endParaRPr lang="zh-CN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2000"/>
                        <a:t>会反馈</a:t>
                      </a:r>
                      <a:endParaRPr lang="zh-CN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34060">
                <a:tc>
                  <a:txBody>
                    <a:bodyPr/>
                    <a:p>
                      <a:r>
                        <a:rPr lang="en-US" altLang="zh-CN" sz="2000"/>
                        <a:t>Foundation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√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×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×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×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×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34060">
                <a:tc>
                  <a:txBody>
                    <a:bodyPr/>
                    <a:p>
                      <a:r>
                        <a:rPr lang="en-US" altLang="zh-CN" sz="2000"/>
                        <a:t>Translator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√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×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×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×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×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34060">
                <a:tc>
                  <a:txBody>
                    <a:bodyPr/>
                    <a:p>
                      <a:r>
                        <a:rPr lang="en-US" altLang="zh-CN" sz="2000"/>
                        <a:t>Reasoner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√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√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×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×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×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34060">
                <a:tc>
                  <a:txBody>
                    <a:bodyPr/>
                    <a:p>
                      <a:r>
                        <a:rPr lang="en-US" altLang="zh-CN" sz="2000"/>
                        <a:t>Agent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√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√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√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√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√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66762" y="443706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0">
                <a:solidFill>
                  <a:srgbClr val="000000"/>
                </a:solidFill>
                <a:latin typeface="-webkit-standard"/>
                <a:ea typeface="-webkit-standard"/>
              </a:rPr>
              <a:t>四种</a:t>
            </a:r>
            <a:r>
              <a:rPr lang="en-US" altLang="zh-CN" sz="1600" b="0" i="0">
                <a:solidFill>
                  <a:srgbClr val="000000"/>
                </a:solidFill>
                <a:latin typeface="-webkit-standard"/>
                <a:ea typeface="-webkit-standard"/>
              </a:rPr>
              <a:t>Paradigm</a:t>
            </a:r>
            <a:endParaRPr lang="en-US" altLang="zh-CN" sz="1600" b="0" i="0">
              <a:solidFill>
                <a:srgbClr val="000000"/>
              </a:solidFill>
              <a:latin typeface="-webkit-standard"/>
              <a:ea typeface="-webkit-standard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59057" y="443706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0">
                <a:solidFill>
                  <a:srgbClr val="000000"/>
                </a:solidFill>
                <a:latin typeface="-webkit-standard"/>
                <a:ea typeface="-webkit-standard"/>
              </a:rPr>
              <a:t>重新定义整个</a:t>
            </a:r>
            <a:r>
              <a:rPr lang="zh-CN" altLang="en-US" sz="1600" b="0" i="0">
                <a:solidFill>
                  <a:srgbClr val="000000"/>
                </a:solidFill>
                <a:latin typeface="-webkit-standard"/>
                <a:ea typeface="-webkit-standard"/>
              </a:rPr>
              <a:t>领域</a:t>
            </a:r>
            <a:endParaRPr lang="zh-CN" altLang="en-US" sz="1600" b="0" i="0">
              <a:solidFill>
                <a:srgbClr val="000000"/>
              </a:solidFill>
              <a:latin typeface="-webkit-standard"/>
              <a:ea typeface="-webkit-standard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549910" y="4869180"/>
          <a:ext cx="10483215" cy="1595120"/>
        </p:xfrm>
        <a:graphic>
          <a:graphicData uri="http://schemas.openxmlformats.org/drawingml/2006/table">
            <a:tbl>
              <a:tblPr/>
              <a:tblGrid>
                <a:gridCol w="2676525"/>
                <a:gridCol w="4312285"/>
                <a:gridCol w="3494405"/>
              </a:tblGrid>
              <a:tr h="262890">
                <a:tc>
                  <a:txBody>
                    <a:bodyPr/>
                    <a:p>
                      <a:r>
                        <a:rPr lang="zh-CN" altLang="en-US" sz="1600" b="0" i="0">
                          <a:solidFill>
                            <a:srgbClr val="000000"/>
                          </a:solidFill>
                        </a:rPr>
                        <a:t>方法</a:t>
                      </a:r>
                      <a:endParaRPr lang="zh-CN" altLang="en-US"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600" b="0" i="0">
                          <a:solidFill>
                            <a:srgbClr val="000000"/>
                          </a:solidFill>
                        </a:rPr>
                        <a:t>作者讲了什么</a:t>
                      </a:r>
                      <a:endParaRPr lang="zh-CN" altLang="en-US"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600" b="0" i="0">
                          <a:solidFill>
                            <a:srgbClr val="000000"/>
                          </a:solidFill>
                        </a:rPr>
                        <a:t>代表工作</a:t>
                      </a:r>
                      <a:endParaRPr lang="zh-CN" altLang="en-US"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62890">
                <a:tc>
                  <a:txBody>
                    <a:bodyPr/>
                    <a:p>
                      <a:r>
                        <a:rPr lang="en-US" altLang="zh-CN" sz="1600" b="0" i="0">
                          <a:solidFill>
                            <a:srgbClr val="000000"/>
                          </a:solidFill>
                        </a:rPr>
                        <a:t>Foundation Model</a:t>
                      </a:r>
                      <a:endParaRPr lang="en-US" altLang="zh-CN"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600" b="0" i="0">
                          <a:solidFill>
                            <a:srgbClr val="000000"/>
                          </a:solidFill>
                        </a:rPr>
                        <a:t>学习通用时间序列表示，重点是预测</a:t>
                      </a:r>
                      <a:endParaRPr lang="zh-CN" altLang="en-US"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0" i="0">
                          <a:solidFill>
                            <a:srgbClr val="000000"/>
                          </a:solidFill>
                        </a:rPr>
                        <a:t>Chronos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</a:rPr>
                        <a:t>、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</a:rPr>
                        <a:t>TimesFM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</a:rPr>
                        <a:t>、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</a:rPr>
                        <a:t>MOMENT</a:t>
                      </a:r>
                      <a:endParaRPr lang="en-US" altLang="zh-CN"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80670">
                <a:tc>
                  <a:txBody>
                    <a:bodyPr/>
                    <a:p>
                      <a:r>
                        <a:rPr lang="en-US" altLang="zh-CN" sz="1600" b="0" i="0">
                          <a:solidFill>
                            <a:srgbClr val="000000"/>
                          </a:solidFill>
                        </a:rPr>
                        <a:t>LLM4TS</a:t>
                      </a:r>
                      <a:endParaRPr lang="en-US" altLang="zh-CN"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600" b="0" i="0">
                          <a:solidFill>
                            <a:srgbClr val="000000"/>
                          </a:solidFill>
                        </a:rPr>
                        <a:t>利用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</a:rPr>
                        <a:t>LLM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</a:rPr>
                        <a:t>理解时间序列</a:t>
                      </a:r>
                      <a:endParaRPr lang="zh-CN" altLang="en-US"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0" i="0">
                          <a:solidFill>
                            <a:srgbClr val="000000"/>
                          </a:solidFill>
                        </a:rPr>
                        <a:t>Time-LLM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</a:rPr>
                        <a:t>、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</a:rPr>
                        <a:t>ChatTS</a:t>
                      </a:r>
                      <a:endParaRPr lang="en-US" altLang="zh-CN"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62890">
                <a:tc>
                  <a:txBody>
                    <a:bodyPr/>
                    <a:p>
                      <a:r>
                        <a:rPr lang="en-US" altLang="zh-CN" sz="1600" b="0" i="0">
                          <a:solidFill>
                            <a:srgbClr val="000000"/>
                          </a:solidFill>
                        </a:rPr>
                        <a:t>Reasoning Agent</a:t>
                      </a:r>
                      <a:endParaRPr lang="en-US" altLang="zh-CN"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600" b="0" i="0">
                          <a:solidFill>
                            <a:srgbClr val="000000"/>
                          </a:solidFill>
                        </a:rPr>
                        <a:t>引入推理能力，能够分析原因</a:t>
                      </a:r>
                      <a:endParaRPr lang="zh-CN" altLang="en-US"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0" i="0">
                          <a:solidFill>
                            <a:srgbClr val="000000"/>
                          </a:solidFill>
                        </a:rPr>
                        <a:t>Time-R1 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</a:rPr>
                        <a:t>等</a:t>
                      </a:r>
                      <a:endParaRPr lang="zh-CN" altLang="en-US"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25780">
                <a:tc>
                  <a:txBody>
                    <a:bodyPr/>
                    <a:p>
                      <a:r>
                        <a:rPr lang="en-US" altLang="zh-CN" sz="1600" b="0" i="0">
                          <a:solidFill>
                            <a:srgbClr val="000000"/>
                          </a:solidFill>
                        </a:rPr>
                        <a:t>Agentic System</a:t>
                      </a:r>
                      <a:endParaRPr lang="en-US" altLang="zh-CN"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600" b="0" i="0">
                          <a:solidFill>
                            <a:srgbClr val="000000"/>
                          </a:solidFill>
                        </a:rPr>
                        <a:t>感知、推理、规划、执行、反馈的闭环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</a:rPr>
                        <a:t>Agent</a:t>
                      </a:r>
                      <a:endParaRPr lang="en-US" altLang="zh-CN"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600" b="0" i="0">
                          <a:solidFill>
                            <a:srgbClr val="000000"/>
                          </a:solidFill>
                        </a:rPr>
                        <a:t>多种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</a:rPr>
                        <a:t>Agent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</a:rPr>
                        <a:t>框架</a:t>
                      </a:r>
                      <a:endParaRPr lang="zh-CN" altLang="en-US"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46805" y="6153785"/>
            <a:ext cx="688022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-webkit-standard"/>
                <a:ea typeface="-webkit-standard"/>
              </a:rPr>
              <a:t>Agent</a:t>
            </a:r>
            <a:r>
              <a:rPr lang="zh-CN" altLang="en-US" sz="1600" b="0" i="0">
                <a:solidFill>
                  <a:srgbClr val="000000"/>
                </a:solidFill>
                <a:latin typeface="-webkit-standard"/>
                <a:ea typeface="-webkit-standard"/>
              </a:rPr>
              <a:t>必须拥有</a:t>
            </a:r>
            <a:r>
              <a:rPr lang="en-US" altLang="zh-CN" sz="1600" b="0" i="0">
                <a:solidFill>
                  <a:srgbClr val="000000"/>
                </a:solidFill>
                <a:latin typeface="-webkit-standard"/>
                <a:ea typeface="-webkit-standard"/>
              </a:rPr>
              <a:t>5</a:t>
            </a:r>
            <a:r>
              <a:rPr lang="zh-CN" altLang="en-US" sz="1600" b="0" i="0">
                <a:solidFill>
                  <a:srgbClr val="000000"/>
                </a:solidFill>
                <a:latin typeface="-webkit-standard"/>
                <a:ea typeface="-webkit-standard"/>
              </a:rPr>
              <a:t>层能力</a:t>
            </a:r>
            <a:r>
              <a:rPr lang="en-US" altLang="zh-CN" sz="1600" b="0" i="0">
                <a:solidFill>
                  <a:srgbClr val="000000"/>
                </a:solidFill>
                <a:latin typeface="-webkit-standard"/>
                <a:ea typeface="-webkit-standard"/>
              </a:rPr>
              <a:t>                         </a:t>
            </a:r>
            <a:r>
              <a:rPr lang="zh-CN" altLang="en-US" sz="1600" b="0" i="0">
                <a:solidFill>
                  <a:srgbClr val="000000"/>
                </a:solidFill>
                <a:latin typeface="-webkit-standard"/>
                <a:ea typeface="-webkit-standard"/>
              </a:rPr>
              <a:t>预测模型</a:t>
            </a:r>
            <a:r>
              <a:rPr lang="en-US" altLang="zh-CN" sz="1600" b="0" i="0">
                <a:solidFill>
                  <a:srgbClr val="000000"/>
                </a:solidFill>
                <a:latin typeface="-webkit-standard"/>
                <a:ea typeface="-webkit-standard"/>
              </a:rPr>
              <a:t>-&gt;</a:t>
            </a:r>
            <a:r>
              <a:rPr lang="zh-CN" altLang="en-US" sz="1600" b="0" i="0">
                <a:solidFill>
                  <a:srgbClr val="000000"/>
                </a:solidFill>
                <a:latin typeface="-webkit-standard"/>
                <a:ea typeface="-webkit-standard"/>
              </a:rPr>
              <a:t>自主决策的智能</a:t>
            </a:r>
            <a:r>
              <a:rPr lang="zh-CN" altLang="en-US" sz="1600" b="0" i="0">
                <a:solidFill>
                  <a:srgbClr val="000000"/>
                </a:solidFill>
                <a:latin typeface="-webkit-standard"/>
                <a:ea typeface="-webkit-standard"/>
              </a:rPr>
              <a:t>系统</a:t>
            </a:r>
            <a:endParaRPr lang="zh-CN" altLang="en-US" sz="1600" b="0" i="0">
              <a:solidFill>
                <a:srgbClr val="000000"/>
              </a:solidFill>
              <a:latin typeface="-webkit-standard"/>
              <a:ea typeface="-webkit-standard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407035" y="1506220"/>
          <a:ext cx="10690860" cy="4262120"/>
        </p:xfrm>
        <a:graphic>
          <a:graphicData uri="http://schemas.openxmlformats.org/drawingml/2006/table">
            <a:tbl>
              <a:tblPr/>
              <a:tblGrid>
                <a:gridCol w="3563620"/>
                <a:gridCol w="3563620"/>
                <a:gridCol w="3563620"/>
              </a:tblGrid>
              <a:tr h="304800">
                <a:tc>
                  <a:txBody>
                    <a:bodyPr/>
                    <a:p>
                      <a:r>
                        <a:rPr lang="zh-CN" altLang="en-US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层级</a:t>
                      </a:r>
                      <a:endParaRPr lang="zh-CN" altLang="en-US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能力</a:t>
                      </a:r>
                      <a:endParaRPr lang="zh-CN" altLang="en-US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做什么</a:t>
                      </a:r>
                      <a:endParaRPr lang="zh-CN" altLang="en-US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09320">
                <a:tc>
                  <a:txBody>
                    <a:bodyPr/>
                    <a:p>
                      <a:r>
                        <a:rPr lang="en-US" altLang="zh-CN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① </a:t>
                      </a:r>
                      <a:r>
                        <a:rPr lang="zh-CN" altLang="en-US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时序感知</a:t>
                      </a:r>
                      <a:endParaRPr lang="zh-CN" altLang="en-US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Perception</a:t>
                      </a:r>
                      <a:endParaRPr lang="en-US" altLang="zh-CN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把原始数值、诊断输出、符号摘要、多模态上下文转化为证据</a:t>
                      </a:r>
                      <a:endParaRPr lang="zh-CN" altLang="en-US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p>
                      <a:r>
                        <a:rPr lang="en-US" altLang="zh-CN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② </a:t>
                      </a:r>
                      <a:r>
                        <a:rPr lang="zh-CN" altLang="en-US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时序推理</a:t>
                      </a:r>
                      <a:endParaRPr lang="zh-CN" altLang="en-US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Reasoning</a:t>
                      </a:r>
                      <a:endParaRPr lang="en-US" altLang="zh-CN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推断模式、因果假设、异常、不确定性、未来动态</a:t>
                      </a:r>
                      <a:endParaRPr lang="zh-CN" altLang="en-US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14400">
                <a:tc>
                  <a:txBody>
                    <a:bodyPr/>
                    <a:p>
                      <a:r>
                        <a:rPr lang="en-US" altLang="zh-CN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③ </a:t>
                      </a:r>
                      <a:r>
                        <a:rPr lang="zh-CN" altLang="en-US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规划与行动</a:t>
                      </a:r>
                      <a:endParaRPr lang="zh-CN" altLang="en-US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Planning &amp; Action</a:t>
                      </a:r>
                      <a:endParaRPr lang="en-US" altLang="zh-CN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路由工具、获取证据、编排模型</a:t>
                      </a:r>
                      <a:r>
                        <a:rPr lang="en-US" altLang="zh-CN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/</a:t>
                      </a:r>
                      <a:r>
                        <a:rPr lang="zh-CN" altLang="en-US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数据</a:t>
                      </a:r>
                      <a:r>
                        <a:rPr lang="en-US" altLang="zh-CN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/</a:t>
                      </a:r>
                      <a:r>
                        <a:rPr lang="zh-CN" altLang="en-US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代码工作流、协调多智能体、做出外部决策</a:t>
                      </a:r>
                      <a:endParaRPr lang="zh-CN" altLang="en-US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14400">
                <a:tc>
                  <a:txBody>
                    <a:bodyPr/>
                    <a:p>
                      <a:r>
                        <a:rPr lang="en-US" altLang="zh-CN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④ </a:t>
                      </a:r>
                      <a:r>
                        <a:rPr lang="zh-CN" altLang="en-US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记忆与知识</a:t>
                      </a:r>
                      <a:endParaRPr lang="zh-CN" altLang="en-US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Memory &amp; Knowledge</a:t>
                      </a:r>
                      <a:endParaRPr lang="en-US" altLang="zh-CN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跨会话存储时序案例、状态模式、流程、失败经验、置信度信号、领域知识</a:t>
                      </a:r>
                      <a:endParaRPr lang="zh-CN" altLang="en-US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p>
                      <a:r>
                        <a:rPr lang="en-US" altLang="zh-CN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⑤ </a:t>
                      </a:r>
                      <a:r>
                        <a:rPr lang="zh-CN" altLang="en-US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时序世界模型</a:t>
                      </a:r>
                      <a:endParaRPr lang="zh-CN" altLang="en-US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Temporal World Models</a:t>
                      </a:r>
                      <a:endParaRPr lang="en-US" altLang="zh-CN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2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模拟可能的未来、干预效果、反事实替代方案</a:t>
                      </a:r>
                      <a:endParaRPr lang="zh-CN" altLang="en-US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398780" y="1166495"/>
            <a:ext cx="10691495" cy="12065"/>
          </a:xfrm>
          <a:prstGeom prst="line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06400" y="5889625"/>
            <a:ext cx="10691495" cy="12065"/>
          </a:xfrm>
          <a:prstGeom prst="line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78155" y="33274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</a:t>
            </a:r>
            <a:r>
              <a:rPr lang="zh-CN" altLang="en-US"/>
              <a:t>二、五层能力架构（核心框架）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2480" y="0"/>
            <a:ext cx="8575040" cy="67189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4645" y="18859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三、演进路径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94372" y="5483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0">
                <a:solidFill>
                  <a:srgbClr val="000000"/>
                </a:solidFill>
                <a:latin typeface="-webkit-standard"/>
                <a:ea typeface="-webkit-standard"/>
              </a:rPr>
              <a:t>一个预测模型如何进化成一个决策系统</a:t>
            </a:r>
            <a:endParaRPr lang="zh-CN" altLang="en-US" sz="1600" b="0" i="0">
              <a:solidFill>
                <a:srgbClr val="000000"/>
              </a:solidFill>
              <a:latin typeface="-webkit-standard"/>
              <a:ea typeface="-webkit-standard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246620" y="764540"/>
            <a:ext cx="6096000" cy="5908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Forecast Model</a:t>
            </a:r>
            <a:endParaRPr lang="en-US" altLang="zh-CN"/>
          </a:p>
          <a:p>
            <a:r>
              <a:rPr lang="en-US" altLang="zh-CN"/>
              <a:t>       |</a:t>
            </a:r>
            <a:endParaRPr lang="en-US" altLang="zh-CN"/>
          </a:p>
          <a:p>
            <a:r>
              <a:rPr lang="en-US" altLang="zh-CN"/>
              <a:t>       |  </a:t>
            </a:r>
            <a:r>
              <a:rPr lang="zh-CN" altLang="en-US"/>
              <a:t>增强预测能力</a:t>
            </a:r>
            <a:endParaRPr lang="zh-CN" altLang="en-US"/>
          </a:p>
          <a:p>
            <a:r>
              <a:rPr lang="en-US" altLang="zh-CN"/>
              <a:t> 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zh-CN"/>
              <a:t>Foundation Model</a:t>
            </a:r>
            <a:endParaRPr lang="en-US" altLang="zh-CN"/>
          </a:p>
          <a:p>
            <a:r>
              <a:rPr lang="en-US" altLang="zh-CN"/>
              <a:t>       |</a:t>
            </a:r>
            <a:endParaRPr lang="en-US" altLang="zh-CN"/>
          </a:p>
          <a:p>
            <a:r>
              <a:rPr lang="en-US" altLang="zh-CN"/>
              <a:t>       |  </a:t>
            </a:r>
            <a:r>
              <a:rPr lang="zh-CN" altLang="en-US"/>
              <a:t>增加语言理解</a:t>
            </a:r>
            <a:endParaRPr lang="zh-CN" altLang="en-US"/>
          </a:p>
          <a:p>
            <a:r>
              <a:rPr lang="en-US" altLang="zh-CN"/>
              <a:t> 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zh-CN"/>
              <a:t>LLM4TS</a:t>
            </a:r>
            <a:endParaRPr lang="en-US" altLang="zh-CN"/>
          </a:p>
          <a:p>
            <a:r>
              <a:rPr lang="en-US" altLang="zh-CN"/>
              <a:t>       |</a:t>
            </a:r>
            <a:endParaRPr lang="en-US" altLang="zh-CN"/>
          </a:p>
          <a:p>
            <a:r>
              <a:rPr lang="en-US" altLang="zh-CN"/>
              <a:t>       |  </a:t>
            </a:r>
            <a:r>
              <a:rPr lang="zh-CN" altLang="en-US"/>
              <a:t>增加推理能力</a:t>
            </a:r>
            <a:endParaRPr lang="zh-CN" altLang="en-US"/>
          </a:p>
          <a:p>
            <a:r>
              <a:rPr lang="en-US" altLang="zh-CN"/>
              <a:t> 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zh-CN"/>
              <a:t>Reasoner</a:t>
            </a:r>
            <a:endParaRPr lang="en-US" altLang="zh-CN"/>
          </a:p>
          <a:p>
            <a:r>
              <a:rPr lang="en-US" altLang="zh-CN"/>
              <a:t>       |</a:t>
            </a:r>
            <a:endParaRPr lang="en-US" altLang="zh-CN"/>
          </a:p>
          <a:p>
            <a:r>
              <a:rPr lang="en-US" altLang="zh-CN"/>
              <a:t>       |  </a:t>
            </a:r>
            <a:r>
              <a:rPr lang="zh-CN" altLang="en-US"/>
              <a:t>增加工具调用和行动</a:t>
            </a:r>
            <a:endParaRPr lang="zh-CN" altLang="en-US"/>
          </a:p>
          <a:p>
            <a:r>
              <a:rPr lang="en-US" altLang="zh-CN"/>
              <a:t> 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zh-CN"/>
              <a:t>Agent</a:t>
            </a:r>
            <a:endParaRPr lang="en-US" altLang="zh-CN"/>
          </a:p>
          <a:p>
            <a:r>
              <a:rPr lang="en-US" altLang="zh-CN"/>
              <a:t>       |</a:t>
            </a:r>
            <a:endParaRPr lang="en-US" altLang="zh-CN"/>
          </a:p>
          <a:p>
            <a:r>
              <a:rPr lang="en-US" altLang="zh-CN"/>
              <a:t>       |  </a:t>
            </a:r>
            <a:r>
              <a:rPr lang="zh-CN" altLang="en-US"/>
              <a:t>增加经验积累和环境模拟</a:t>
            </a:r>
            <a:endParaRPr lang="zh-CN" altLang="en-US"/>
          </a:p>
          <a:p>
            <a:r>
              <a:rPr lang="en-US" altLang="zh-CN"/>
              <a:t> 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zh-CN"/>
              <a:t>Decision System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66445" y="1268730"/>
            <a:ext cx="5975985" cy="331914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2000"/>
              <a:t>作者认为，</a:t>
            </a:r>
            <a:r>
              <a:rPr lang="en-US" altLang="zh-CN" sz="2000"/>
              <a:t>Time Series</a:t>
            </a:r>
            <a:r>
              <a:rPr lang="zh-CN" altLang="en-US" sz="2000"/>
              <a:t>的发展并不是简单追求更高预测精度，而是在不断增加系统能力。早期模型只能回答“未来会发生什么”，</a:t>
            </a:r>
            <a:r>
              <a:rPr lang="en-US" altLang="zh-CN" sz="2000"/>
              <a:t>Foundation Model</a:t>
            </a:r>
            <a:r>
              <a:rPr lang="zh-CN" altLang="en-US" sz="2000"/>
              <a:t>增强了通用表示能力，</a:t>
            </a:r>
            <a:r>
              <a:rPr lang="en-US" altLang="zh-CN" sz="2000"/>
              <a:t>LLM</a:t>
            </a:r>
            <a:r>
              <a:rPr lang="zh-CN" altLang="en-US" sz="2000"/>
              <a:t>进一步赋予模型理解和推理能力，而</a:t>
            </a:r>
            <a:r>
              <a:rPr lang="en-US" altLang="zh-CN" sz="2000"/>
              <a:t>Agent</a:t>
            </a:r>
            <a:r>
              <a:rPr lang="zh-CN" altLang="en-US" sz="2000"/>
              <a:t>通过</a:t>
            </a:r>
            <a:r>
              <a:rPr lang="en-US" altLang="zh-CN" sz="2000"/>
              <a:t>Planning</a:t>
            </a:r>
            <a:r>
              <a:rPr lang="zh-CN" altLang="en-US" sz="2000"/>
              <a:t>、</a:t>
            </a:r>
            <a:r>
              <a:rPr lang="en-US" altLang="zh-CN" sz="2000"/>
              <a:t>Tool Use</a:t>
            </a:r>
            <a:r>
              <a:rPr lang="zh-CN" altLang="en-US" sz="2000"/>
              <a:t>、</a:t>
            </a:r>
            <a:r>
              <a:rPr lang="en-US" altLang="zh-CN" sz="2000"/>
              <a:t>Memory</a:t>
            </a:r>
            <a:r>
              <a:rPr lang="zh-CN" altLang="en-US" sz="2000"/>
              <a:t>和</a:t>
            </a:r>
            <a:r>
              <a:rPr lang="en-US" altLang="zh-CN" sz="2000"/>
              <a:t>Feedback</a:t>
            </a:r>
            <a:r>
              <a:rPr lang="zh-CN" altLang="en-US" sz="2000"/>
              <a:t>机制，使系统能够根据预测结果采取行动。因此，</a:t>
            </a:r>
            <a:r>
              <a:rPr lang="en-US" altLang="zh-CN" sz="2000"/>
              <a:t>Time Series</a:t>
            </a:r>
            <a:r>
              <a:rPr lang="zh-CN" altLang="en-US" sz="2000"/>
              <a:t>正在从一个预测模型逐渐演化成为一个能够感知环境、分析原因、制定策略并持续学习的决策系统</a:t>
            </a:r>
            <a:endParaRPr lang="zh-CN" altLang="en-US" sz="2000"/>
          </a:p>
        </p:txBody>
      </p:sp>
      <p:sp>
        <p:nvSpPr>
          <p:cNvPr id="8" name="文本框 7"/>
          <p:cNvSpPr txBox="1"/>
          <p:nvPr/>
        </p:nvSpPr>
        <p:spPr>
          <a:xfrm>
            <a:off x="406400" y="4293235"/>
            <a:ext cx="6928485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最关键的定义是：一个真正的 </a:t>
            </a:r>
            <a:r>
              <a:rPr lang="en-US" altLang="zh-CN" sz="1600"/>
              <a:t>time series agent </a:t>
            </a:r>
            <a:r>
              <a:rPr lang="zh-CN" altLang="en-US" sz="1600"/>
              <a:t>不是因为用了 </a:t>
            </a:r>
            <a:r>
              <a:rPr lang="en-US" altLang="zh-CN" sz="1600"/>
              <a:t>LLM</a:t>
            </a:r>
            <a:r>
              <a:rPr lang="zh-CN" altLang="en-US" sz="1600"/>
              <a:t>、</a:t>
            </a:r>
            <a:r>
              <a:rPr lang="en-US" altLang="zh-CN" sz="1600"/>
              <a:t>RAG</a:t>
            </a:r>
            <a:r>
              <a:rPr lang="zh-CN" altLang="en-US" sz="1600"/>
              <a:t>、多智能体或工具调用，而是因为它形成了一个闭环：</a:t>
            </a:r>
            <a:endParaRPr lang="zh-CN" altLang="en-US" sz="1600"/>
          </a:p>
          <a:p>
            <a:r>
              <a:rPr lang="zh-CN" altLang="en-US" sz="1600"/>
              <a:t>观察数据 </a:t>
            </a:r>
            <a:r>
              <a:rPr lang="en-US" altLang="zh-CN" sz="1600"/>
              <a:t>-&gt; </a:t>
            </a:r>
            <a:r>
              <a:rPr lang="zh-CN" altLang="en-US" sz="1600"/>
              <a:t>构造证据 </a:t>
            </a:r>
            <a:r>
              <a:rPr lang="en-US" altLang="zh-CN" sz="1600"/>
              <a:t>-&gt; </a:t>
            </a:r>
            <a:r>
              <a:rPr lang="zh-CN" altLang="en-US" sz="1600"/>
              <a:t>推理 </a:t>
            </a:r>
            <a:r>
              <a:rPr lang="en-US" altLang="zh-CN" sz="1600"/>
              <a:t>-&gt; </a:t>
            </a:r>
            <a:r>
              <a:rPr lang="zh-CN" altLang="en-US" sz="1600"/>
              <a:t>规划</a:t>
            </a:r>
            <a:r>
              <a:rPr lang="en-US" altLang="zh-CN" sz="1600"/>
              <a:t>/</a:t>
            </a:r>
            <a:r>
              <a:rPr lang="zh-CN" altLang="en-US" sz="1600"/>
              <a:t>调用工具</a:t>
            </a:r>
            <a:r>
              <a:rPr lang="en-US" altLang="zh-CN" sz="1600"/>
              <a:t>/</a:t>
            </a:r>
            <a:r>
              <a:rPr lang="zh-CN" altLang="en-US" sz="1600"/>
              <a:t>采取行动 </a:t>
            </a:r>
            <a:r>
              <a:rPr lang="en-US" altLang="zh-CN" sz="1600"/>
              <a:t>-&gt; </a:t>
            </a:r>
            <a:r>
              <a:rPr lang="zh-CN" altLang="en-US" sz="1600"/>
              <a:t>接收反馈 </a:t>
            </a:r>
            <a:r>
              <a:rPr lang="en-US" altLang="zh-CN" sz="1600"/>
              <a:t>-&gt; </a:t>
            </a:r>
            <a:r>
              <a:rPr lang="zh-CN" altLang="en-US" sz="1600"/>
              <a:t>更新状态</a:t>
            </a:r>
            <a:r>
              <a:rPr lang="en-US" altLang="zh-CN" sz="1600"/>
              <a:t>/</a:t>
            </a:r>
            <a:r>
              <a:rPr lang="zh-CN" altLang="en-US" sz="1600"/>
              <a:t>记忆 </a:t>
            </a:r>
            <a:r>
              <a:rPr lang="en-US" altLang="zh-CN" sz="1600"/>
              <a:t>-&gt; </a:t>
            </a:r>
            <a:r>
              <a:rPr lang="zh-CN" altLang="en-US" sz="1600"/>
              <a:t>下一次决策</a:t>
            </a:r>
            <a:endParaRPr lang="zh-CN" alt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10590" y="11684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四、可靠性与可信赖性（跨层约束）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4505" y="836930"/>
            <a:ext cx="7267575" cy="42868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86985" y="5805170"/>
            <a:ext cx="85439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可靠性不是最终输出的一次性检查，而是贯穿所有层的契约：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5007" y="908685"/>
            <a:ext cx="5080000" cy="532320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2000" b="0" i="0">
                <a:solidFill>
                  <a:srgbClr val="000000"/>
                </a:solidFill>
              </a:rPr>
              <a:t>Agent</a:t>
            </a:r>
            <a:r>
              <a:rPr lang="zh-CN" altLang="en-US" sz="2000" b="0" i="0">
                <a:solidFill>
                  <a:srgbClr val="000000"/>
                </a:solidFill>
              </a:rPr>
              <a:t>里面。</a:t>
            </a:r>
            <a:endParaRPr lang="zh-CN" altLang="en-US" sz="2000" b="0" i="0">
              <a:solidFill>
                <a:srgbClr val="000000"/>
              </a:solidFill>
            </a:endParaRPr>
          </a:p>
          <a:p>
            <a:pPr marL="0" indent="0"/>
            <a:r>
              <a:rPr lang="zh-CN" altLang="en-US" sz="2000" b="0" i="0">
                <a:solidFill>
                  <a:srgbClr val="000000"/>
                </a:solidFill>
              </a:rPr>
              <a:t>每一步都会错。</a:t>
            </a:r>
            <a:endParaRPr lang="zh-CN" altLang="en-US" sz="2000" b="0" i="0">
              <a:solidFill>
                <a:srgbClr val="000000"/>
              </a:solidFill>
            </a:endParaRPr>
          </a:p>
          <a:p>
            <a:pPr marL="0" indent="0"/>
            <a:endParaRPr lang="zh-CN" altLang="en-US" sz="2000" b="0" i="0">
              <a:solidFill>
                <a:srgbClr val="000000"/>
              </a:solidFill>
            </a:endParaRPr>
          </a:p>
          <a:p>
            <a:pPr marL="457200" lvl="1" indent="0"/>
            <a:r>
              <a:rPr lang="zh-CN" altLang="en-US" sz="2000" b="0" i="0">
                <a:solidFill>
                  <a:srgbClr val="000000"/>
                </a:solidFill>
              </a:rPr>
              <a:t>例如：</a:t>
            </a:r>
            <a:endParaRPr lang="zh-CN" altLang="en-US" sz="2000" b="0" i="0">
              <a:solidFill>
                <a:srgbClr val="000000"/>
              </a:solidFill>
            </a:endParaRPr>
          </a:p>
          <a:p>
            <a:pPr marL="457200" lvl="1" indent="0"/>
            <a:r>
              <a:rPr lang="zh-CN" altLang="en-US" sz="2000" b="0" i="0">
                <a:solidFill>
                  <a:srgbClr val="000000"/>
                </a:solidFill>
              </a:rPr>
              <a:t>新闻读错。</a:t>
            </a:r>
            <a:endParaRPr lang="zh-CN" altLang="en-US" sz="2000" b="0" i="0">
              <a:solidFill>
                <a:srgbClr val="000000"/>
              </a:solidFill>
            </a:endParaRPr>
          </a:p>
          <a:p>
            <a:pPr marL="457200" lvl="1" indent="0"/>
            <a:r>
              <a:rPr lang="en-US" altLang="zh-CN" sz="2000" b="0" i="0">
                <a:solidFill>
                  <a:srgbClr val="000000"/>
                </a:solidFill>
              </a:rPr>
              <a:t>↓</a:t>
            </a:r>
            <a:endParaRPr lang="en-US" altLang="zh-CN" sz="2000" b="0" i="0">
              <a:solidFill>
                <a:srgbClr val="000000"/>
              </a:solidFill>
            </a:endParaRPr>
          </a:p>
          <a:p>
            <a:pPr marL="457200" lvl="1" indent="0"/>
            <a:r>
              <a:rPr lang="zh-CN" altLang="en-US" sz="2000" b="0" i="0">
                <a:solidFill>
                  <a:srgbClr val="000000"/>
                </a:solidFill>
              </a:rPr>
              <a:t>推理错。</a:t>
            </a:r>
            <a:endParaRPr lang="zh-CN" altLang="en-US" sz="2000" b="0" i="0">
              <a:solidFill>
                <a:srgbClr val="000000"/>
              </a:solidFill>
            </a:endParaRPr>
          </a:p>
          <a:p>
            <a:pPr marL="457200" lvl="1" indent="0"/>
            <a:r>
              <a:rPr lang="en-US" altLang="zh-CN" sz="2000" b="0" i="0">
                <a:solidFill>
                  <a:srgbClr val="000000"/>
                </a:solidFill>
              </a:rPr>
              <a:t>↓</a:t>
            </a:r>
            <a:endParaRPr lang="en-US" altLang="zh-CN" sz="2000" b="0" i="0">
              <a:solidFill>
                <a:srgbClr val="000000"/>
              </a:solidFill>
            </a:endParaRPr>
          </a:p>
          <a:p>
            <a:pPr marL="457200" lvl="1" indent="0"/>
            <a:r>
              <a:rPr lang="zh-CN" altLang="en-US" sz="2000" b="0" i="0">
                <a:solidFill>
                  <a:srgbClr val="000000"/>
                </a:solidFill>
              </a:rPr>
              <a:t>工具调用错。</a:t>
            </a:r>
            <a:endParaRPr lang="zh-CN" altLang="en-US" sz="2000" b="0" i="0">
              <a:solidFill>
                <a:srgbClr val="000000"/>
              </a:solidFill>
            </a:endParaRPr>
          </a:p>
          <a:p>
            <a:pPr marL="457200" lvl="1" indent="0"/>
            <a:r>
              <a:rPr lang="en-US" altLang="zh-CN" sz="2000" b="0" i="0">
                <a:solidFill>
                  <a:srgbClr val="000000"/>
                </a:solidFill>
              </a:rPr>
              <a:t>↓</a:t>
            </a:r>
            <a:endParaRPr lang="en-US" altLang="zh-CN" sz="2000" b="0" i="0">
              <a:solidFill>
                <a:srgbClr val="000000"/>
              </a:solidFill>
            </a:endParaRPr>
          </a:p>
          <a:p>
            <a:pPr marL="457200" lvl="1" indent="0"/>
            <a:r>
              <a:rPr lang="zh-CN" altLang="en-US" sz="2000" b="0" i="0">
                <a:solidFill>
                  <a:srgbClr val="000000"/>
                </a:solidFill>
              </a:rPr>
              <a:t>风险判断错。</a:t>
            </a:r>
            <a:endParaRPr lang="zh-CN" altLang="en-US" sz="2000" b="0" i="0">
              <a:solidFill>
                <a:srgbClr val="000000"/>
              </a:solidFill>
            </a:endParaRPr>
          </a:p>
          <a:p>
            <a:pPr marL="457200" lvl="1" indent="0"/>
            <a:r>
              <a:rPr lang="en-US" altLang="zh-CN" sz="2000" b="0" i="0">
                <a:solidFill>
                  <a:srgbClr val="000000"/>
                </a:solidFill>
              </a:rPr>
              <a:t>↓</a:t>
            </a:r>
            <a:endParaRPr lang="en-US" altLang="zh-CN" sz="2000" b="0" i="0">
              <a:solidFill>
                <a:srgbClr val="000000"/>
              </a:solidFill>
            </a:endParaRPr>
          </a:p>
          <a:p>
            <a:pPr marL="457200" lvl="1" indent="0"/>
            <a:r>
              <a:rPr lang="zh-CN" altLang="en-US" sz="2000" b="0" i="0">
                <a:solidFill>
                  <a:srgbClr val="000000"/>
                </a:solidFill>
              </a:rPr>
              <a:t>最后交易亏钱。</a:t>
            </a:r>
            <a:endParaRPr lang="zh-CN" altLang="en-US" sz="2000" b="0" i="0">
              <a:solidFill>
                <a:srgbClr val="000000"/>
              </a:solidFill>
            </a:endParaRPr>
          </a:p>
          <a:p>
            <a:pPr marL="0" indent="0"/>
            <a:endParaRPr lang="zh-CN" altLang="en-US" sz="2000" b="0" i="0">
              <a:solidFill>
                <a:srgbClr val="000000"/>
              </a:solidFill>
            </a:endParaRPr>
          </a:p>
          <a:p>
            <a:pPr marL="0" indent="0"/>
            <a:r>
              <a:rPr lang="zh-CN" altLang="en-US" sz="2000" b="0" i="0">
                <a:solidFill>
                  <a:srgbClr val="000000"/>
                </a:solidFill>
              </a:rPr>
              <a:t>所以：</a:t>
            </a:r>
            <a:endParaRPr lang="zh-CN" altLang="en-US" sz="2000" b="0" i="0">
              <a:solidFill>
                <a:srgbClr val="000000"/>
              </a:solidFill>
            </a:endParaRPr>
          </a:p>
          <a:p>
            <a:pPr marL="0" indent="0"/>
            <a:r>
              <a:rPr lang="zh-CN" altLang="en-US" sz="2000" b="0" i="0">
                <a:solidFill>
                  <a:srgbClr val="000000"/>
                </a:solidFill>
              </a:rPr>
              <a:t>不能只评价</a:t>
            </a:r>
            <a:r>
              <a:rPr lang="en-US" altLang="zh-CN" sz="2000" b="0" i="0">
                <a:solidFill>
                  <a:srgbClr val="000000"/>
                </a:solidFill>
              </a:rPr>
              <a:t>Forecast</a:t>
            </a:r>
            <a:r>
              <a:rPr lang="zh-CN" altLang="en-US" sz="2000" b="0" i="0">
                <a:solidFill>
                  <a:srgbClr val="000000"/>
                </a:solidFill>
              </a:rPr>
              <a:t>。</a:t>
            </a:r>
            <a:endParaRPr lang="zh-CN" altLang="en-US" sz="2000" b="0" i="0">
              <a:solidFill>
                <a:srgbClr val="000000"/>
              </a:solidFill>
            </a:endParaRPr>
          </a:p>
          <a:p>
            <a:pPr marL="0" indent="0"/>
            <a:r>
              <a:rPr lang="zh-CN" altLang="en-US" sz="2000" b="0" i="0">
                <a:solidFill>
                  <a:srgbClr val="000000"/>
                </a:solidFill>
              </a:rPr>
              <a:t>必须评价整个</a:t>
            </a:r>
            <a:r>
              <a:rPr lang="en-US" altLang="zh-CN" sz="2000" b="0" i="0">
                <a:solidFill>
                  <a:srgbClr val="000000"/>
                </a:solidFill>
              </a:rPr>
              <a:t>Agent</a:t>
            </a:r>
            <a:r>
              <a:rPr lang="zh-CN" altLang="en-US" sz="2000" b="0" i="0">
                <a:solidFill>
                  <a:srgbClr val="000000"/>
                </a:solidFill>
              </a:rPr>
              <a:t>。</a:t>
            </a:r>
            <a:endParaRPr lang="zh-CN" altLang="en-US" sz="2000" b="0" i="0">
              <a:solidFill>
                <a:srgbClr val="0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74732" y="5373370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704020202020204"/>
              <a:buNone/>
            </a:pPr>
            <a:r>
              <a:rPr lang="en-US" altLang="zh-CN" sz="1600" b="0" i="0">
                <a:solidFill>
                  <a:srgbClr val="0D0D0D"/>
                </a:solidFill>
                <a:latin typeface="-apple-system-body"/>
                <a:ea typeface="-apple-system-body"/>
              </a:rPr>
              <a:t>MAE</a:t>
            </a:r>
            <a:endParaRPr lang="en-US" altLang="zh-CN" sz="1600" b="0" i="0">
              <a:solidFill>
                <a:srgbClr val="0D0D0D"/>
              </a:solidFill>
              <a:latin typeface="-apple-system-body"/>
              <a:ea typeface="-apple-system-body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704020202020204"/>
              <a:buNone/>
            </a:pPr>
            <a:r>
              <a:rPr lang="en-US" altLang="zh-CN" sz="1600" b="0" i="0">
                <a:solidFill>
                  <a:srgbClr val="0D0D0D"/>
                </a:solidFill>
                <a:latin typeface="-apple-system-body"/>
                <a:ea typeface="-apple-system-body"/>
              </a:rPr>
              <a:t>RMSE</a:t>
            </a:r>
            <a:endParaRPr lang="en-US" altLang="zh-CN" sz="1600" b="0" i="0">
              <a:solidFill>
                <a:srgbClr val="0D0D0D"/>
              </a:solidFill>
              <a:latin typeface="-apple-system-body"/>
              <a:ea typeface="-apple-system-body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704020202020204"/>
              <a:buNone/>
            </a:pPr>
            <a:r>
              <a:rPr lang="en-US" altLang="zh-CN" sz="1600" b="0" i="0">
                <a:solidFill>
                  <a:srgbClr val="0D0D0D"/>
                </a:solidFill>
                <a:latin typeface="-apple-system-body"/>
                <a:ea typeface="-apple-system-body"/>
              </a:rPr>
              <a:t>MSE</a:t>
            </a:r>
            <a:endParaRPr lang="en-US" altLang="zh-CN" sz="1600" b="0" i="0">
              <a:solidFill>
                <a:srgbClr val="0D0D0D"/>
              </a:solidFill>
              <a:latin typeface="-apple-system-body"/>
              <a:ea typeface="-apple-system-body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704020202020204"/>
              <a:buChar char="•"/>
            </a:pPr>
            <a:endParaRPr lang="en-US" altLang="zh-CN" sz="1600" b="0" i="0">
              <a:solidFill>
                <a:srgbClr val="0D0D0D"/>
              </a:solidFill>
              <a:latin typeface="-apple-system-body"/>
              <a:ea typeface="-apple-system-body"/>
            </a:endParaRPr>
          </a:p>
          <a:p>
            <a:pPr marL="0" indent="0"/>
            <a:r>
              <a:rPr lang="zh-CN" altLang="en-US" sz="1600" b="0" i="0">
                <a:solidFill>
                  <a:srgbClr val="0D0D0D"/>
                </a:solidFill>
                <a:latin typeface="-apple-system-body"/>
                <a:ea typeface="-apple-system-body"/>
              </a:rPr>
              <a:t>作者认为：未来不够。</a:t>
            </a:r>
            <a:endParaRPr lang="zh-CN" altLang="en-US" sz="1600" b="0" i="0">
              <a:solidFill>
                <a:srgbClr val="0D0D0D"/>
              </a:solidFill>
              <a:latin typeface="-apple-system-body"/>
              <a:ea typeface="-apple-system-bod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4645" y="18859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</a:t>
            </a:r>
            <a:r>
              <a:rPr lang="zh-CN" altLang="en-US"/>
              <a:t>五、六大前沿研究方向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0545" y="836930"/>
            <a:ext cx="1038479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1.</a:t>
            </a:r>
            <a:r>
              <a:rPr lang="zh-CN" altLang="en-US"/>
              <a:t>可验证的时序推理（</a:t>
            </a:r>
            <a:r>
              <a:rPr lang="en-US" altLang="zh-CN"/>
              <a:t>Verifiable Temporal Reasoning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     •</a:t>
            </a:r>
            <a:r>
              <a:rPr lang="zh-CN" altLang="en-US"/>
              <a:t>从只看最终答案正确性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每一步的证据都可追溯、可检查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2.</a:t>
            </a:r>
            <a:r>
              <a:rPr lang="zh-CN" altLang="en-US"/>
              <a:t>端到端智能体训练（</a:t>
            </a:r>
            <a:r>
              <a:rPr lang="en-US" altLang="zh-CN"/>
              <a:t>End-to-End Agent Training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     •</a:t>
            </a:r>
            <a:r>
              <a:rPr lang="zh-CN" altLang="en-US"/>
              <a:t>从手工设计的</a:t>
            </a:r>
            <a:r>
              <a:rPr lang="en-US" altLang="zh-CN"/>
              <a:t> prompt-</a:t>
            </a:r>
            <a:r>
              <a:rPr lang="zh-CN" altLang="en-US"/>
              <a:t>工具流水线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感知、规划、记忆、行动的联合优化</a:t>
            </a:r>
            <a:endParaRPr lang="zh-CN" altLang="en-US"/>
          </a:p>
          <a:p>
            <a:r>
              <a:rPr lang="en-US" altLang="zh-CN"/>
              <a:t>     •</a:t>
            </a:r>
            <a:r>
              <a:rPr lang="zh-CN" altLang="en-US"/>
              <a:t>核心挑战：延迟反馈下的信用分配问题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3.</a:t>
            </a:r>
            <a:r>
              <a:rPr lang="zh-CN" altLang="en-US"/>
              <a:t>记忆与终身适应（</a:t>
            </a:r>
            <a:r>
              <a:rPr lang="en-US" altLang="zh-CN"/>
              <a:t>Memory &amp; Lifelong Adaptation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     •</a:t>
            </a:r>
            <a:r>
              <a:rPr lang="zh-CN" altLang="en-US"/>
              <a:t>跨会话的主动记忆：保留、更新、遗忘、冲突解决策略</a:t>
            </a:r>
            <a:endParaRPr lang="zh-CN" altLang="en-US"/>
          </a:p>
          <a:p>
            <a:r>
              <a:rPr lang="en-US" altLang="zh-CN"/>
              <a:t>     •</a:t>
            </a:r>
            <a:r>
              <a:rPr lang="zh-CN" altLang="en-US"/>
              <a:t>需区分真正的知识迁移</a:t>
            </a:r>
            <a:r>
              <a:rPr lang="en-US" altLang="zh-CN"/>
              <a:t> vs. </a:t>
            </a:r>
            <a:r>
              <a:rPr lang="zh-CN" altLang="en-US"/>
              <a:t>数据泄露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4.</a:t>
            </a:r>
            <a:r>
              <a:rPr lang="zh-CN" altLang="en-US"/>
              <a:t>时序世界模型（</a:t>
            </a:r>
            <a:r>
              <a:rPr lang="en-US" altLang="zh-CN"/>
              <a:t>Time-Series World Models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     •</a:t>
            </a:r>
            <a:r>
              <a:rPr lang="zh-CN" altLang="en-US"/>
              <a:t>从点预测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生成式、可询反事实、机制可验证的环境模型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5.</a:t>
            </a:r>
            <a:r>
              <a:rPr lang="zh-CN" altLang="en-US"/>
              <a:t>决策中心评估（</a:t>
            </a:r>
            <a:r>
              <a:rPr lang="en-US" altLang="zh-CN"/>
              <a:t>Decision-Centric Evaluation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     •</a:t>
            </a:r>
            <a:r>
              <a:rPr lang="zh-CN" altLang="en-US"/>
              <a:t>在分布偏移、部分可观测、操作成本下，联合衡量预测质量、置信度和行动质量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6.</a:t>
            </a:r>
            <a:r>
              <a:rPr lang="zh-CN" altLang="en-US"/>
              <a:t>标准化时序工具协议（</a:t>
            </a:r>
            <a:r>
              <a:rPr lang="en-US" altLang="zh-CN"/>
              <a:t>Standardised Temporal Tool Protocols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     •</a:t>
            </a:r>
            <a:r>
              <a:rPr lang="zh-CN" altLang="en-US"/>
              <a:t>统一数据频率、单位、缺失值处理、窗口语义、模型版本、置信度和来源信息</a:t>
            </a:r>
            <a:endParaRPr lang="zh-CN" altLang="en-US"/>
          </a:p>
          <a:p>
            <a:r>
              <a:rPr lang="en-US" altLang="zh-CN"/>
              <a:t>     •</a:t>
            </a:r>
            <a:r>
              <a:rPr lang="zh-CN" altLang="en-US"/>
              <a:t>目标是让工具可互操作、可验证、可复现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702435" y="1700530"/>
            <a:ext cx="7673975" cy="37846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/>
              <a:t>这篇论文的价值：</a:t>
            </a:r>
            <a:endParaRPr lang="zh-CN" altLang="en-US" sz="2400"/>
          </a:p>
          <a:p>
            <a:pPr indent="0">
              <a:buFont typeface="Arial" panose="020B0704020202020204"/>
              <a:buNone/>
            </a:pPr>
            <a:r>
              <a:rPr lang="zh-CN" altLang="en-US" sz="2400"/>
              <a:t>给 </a:t>
            </a:r>
            <a:r>
              <a:rPr lang="en-US" altLang="zh-CN" sz="2400"/>
              <a:t>Agentic Time Series </a:t>
            </a:r>
            <a:r>
              <a:rPr lang="zh-CN" altLang="en-US" sz="2400"/>
              <a:t>建了系统框架；</a:t>
            </a:r>
            <a:endParaRPr lang="zh-CN" altLang="en-US" sz="2400"/>
          </a:p>
          <a:p>
            <a:pPr indent="0">
              <a:buFont typeface="Arial" panose="020B0704020202020204"/>
              <a:buNone/>
            </a:pPr>
            <a:r>
              <a:rPr lang="zh-CN" altLang="en-US" sz="2400"/>
              <a:t>明确区分模型、推理器和 </a:t>
            </a:r>
            <a:r>
              <a:rPr lang="en-US" altLang="zh-CN" sz="2400"/>
              <a:t>Agent</a:t>
            </a:r>
            <a:r>
              <a:rPr lang="zh-CN" altLang="en-US" sz="2400"/>
              <a:t>；</a:t>
            </a:r>
            <a:endParaRPr lang="zh-CN" altLang="en-US" sz="2400"/>
          </a:p>
          <a:p>
            <a:pPr indent="0">
              <a:buFont typeface="Arial" panose="020B0704020202020204"/>
              <a:buNone/>
            </a:pPr>
            <a:r>
              <a:rPr lang="zh-CN" altLang="en-US" sz="2400"/>
              <a:t>把评估从预测误差推进到决策质量</a:t>
            </a:r>
            <a:r>
              <a:rPr lang="en-US" altLang="zh-CN" sz="2400"/>
              <a:t>。</a:t>
            </a:r>
            <a:endParaRPr lang="en-US" altLang="zh-CN" sz="2400"/>
          </a:p>
          <a:p>
            <a:pPr indent="0">
              <a:buFont typeface="Arial" panose="020B0704020202020204"/>
              <a:buNone/>
            </a:pPr>
            <a:endParaRPr lang="zh-CN" altLang="en-US" sz="2400"/>
          </a:p>
          <a:p>
            <a:r>
              <a:rPr lang="zh-CN" altLang="en-US" sz="2400"/>
              <a:t>不足：</a:t>
            </a:r>
            <a:endParaRPr lang="zh-CN" altLang="en-US" sz="2400"/>
          </a:p>
          <a:p>
            <a:pPr indent="0">
              <a:buFont typeface="Arial" panose="020B0704020202020204"/>
              <a:buNone/>
            </a:pPr>
            <a:r>
              <a:rPr lang="zh-CN" altLang="en-US" sz="2400"/>
              <a:t>仍是 </a:t>
            </a:r>
            <a:r>
              <a:rPr lang="en-US" altLang="zh-CN" sz="2400"/>
              <a:t>survey</a:t>
            </a:r>
            <a:r>
              <a:rPr lang="zh-CN" altLang="en-US" sz="2400"/>
              <a:t>，缺少统一实现方案；</a:t>
            </a:r>
            <a:endParaRPr lang="zh-CN" altLang="en-US" sz="2400"/>
          </a:p>
          <a:p>
            <a:pPr indent="0">
              <a:buFont typeface="Arial" panose="020B0704020202020204"/>
              <a:buNone/>
            </a:pPr>
            <a:r>
              <a:rPr lang="zh-CN" altLang="en-US" sz="2400"/>
              <a:t>很多系统还停留在原型；</a:t>
            </a:r>
            <a:endParaRPr lang="zh-CN" altLang="en-US" sz="2400"/>
          </a:p>
          <a:p>
            <a:pPr indent="0">
              <a:buFont typeface="Arial" panose="020B0704020202020204"/>
              <a:buNone/>
            </a:pPr>
            <a:r>
              <a:rPr lang="zh-CN" altLang="en-US" sz="2400"/>
              <a:t>世界模型、端到端训练、决策评估还没有成熟标准；</a:t>
            </a:r>
            <a:endParaRPr lang="zh-CN" altLang="en-US" sz="2400"/>
          </a:p>
          <a:p>
            <a:pPr indent="0">
              <a:buFont typeface="Arial" panose="020B0704020202020204"/>
              <a:buNone/>
            </a:pPr>
            <a:r>
              <a:rPr lang="zh-CN" altLang="en-US" sz="2400"/>
              <a:t>高风险场景下如何保证安全仍未解决。</a:t>
            </a:r>
            <a:endParaRPr lang="zh-CN" altLang="en-US" sz="2400"/>
          </a:p>
        </p:txBody>
      </p:sp>
      <p:sp>
        <p:nvSpPr>
          <p:cNvPr id="4" name="椭圆 14"/>
          <p:cNvSpPr/>
          <p:nvPr/>
        </p:nvSpPr>
        <p:spPr>
          <a:xfrm rot="1700000">
            <a:off x="6973184" y="-1336040"/>
            <a:ext cx="4744878" cy="3382492"/>
          </a:xfrm>
          <a:custGeom>
            <a:avLst/>
            <a:gdLst>
              <a:gd name="connsiteX0" fmla="*/ 0 w 5305655"/>
              <a:gd name="connsiteY0" fmla="*/ 2846277 h 3687071"/>
              <a:gd name="connsiteX1" fmla="*/ 5278752 w 5305655"/>
              <a:gd name="connsiteY1" fmla="*/ 0 h 3687071"/>
              <a:gd name="connsiteX2" fmla="*/ 4696590 w 5305655"/>
              <a:gd name="connsiteY2" fmla="*/ 661908 h 3687071"/>
              <a:gd name="connsiteX3" fmla="*/ 4302538 w 5305655"/>
              <a:gd name="connsiteY3" fmla="*/ 1958879 h 3687071"/>
              <a:gd name="connsiteX4" fmla="*/ 1782258 w 5305655"/>
              <a:gd name="connsiteY4" fmla="*/ 3687071 h 3687071"/>
              <a:gd name="connsiteX5" fmla="*/ 0 w 5305655"/>
              <a:gd name="connsiteY5" fmla="*/ 2846277 h 3687071"/>
              <a:gd name="connsiteX0-1" fmla="*/ 0 w 5302053"/>
              <a:gd name="connsiteY0-2" fmla="*/ 2846277 h 3687071"/>
              <a:gd name="connsiteX1-3" fmla="*/ 5278752 w 5302053"/>
              <a:gd name="connsiteY1-4" fmla="*/ 0 h 3687071"/>
              <a:gd name="connsiteX2-5" fmla="*/ 4696590 w 5302053"/>
              <a:gd name="connsiteY2-6" fmla="*/ 661908 h 3687071"/>
              <a:gd name="connsiteX3-7" fmla="*/ 4302538 w 5302053"/>
              <a:gd name="connsiteY3-8" fmla="*/ 1958879 h 3687071"/>
              <a:gd name="connsiteX4-9" fmla="*/ 1782258 w 5302053"/>
              <a:gd name="connsiteY4-10" fmla="*/ 3687071 h 3687071"/>
              <a:gd name="connsiteX5-11" fmla="*/ 0 w 5302053"/>
              <a:gd name="connsiteY5-12" fmla="*/ 2846277 h 3687071"/>
              <a:gd name="connsiteX0-13" fmla="*/ 0 w 5315456"/>
              <a:gd name="connsiteY0-14" fmla="*/ 2846277 h 3687071"/>
              <a:gd name="connsiteX1-15" fmla="*/ 5278752 w 5315456"/>
              <a:gd name="connsiteY1-16" fmla="*/ 0 h 3687071"/>
              <a:gd name="connsiteX2-17" fmla="*/ 5035513 w 5315456"/>
              <a:gd name="connsiteY2-18" fmla="*/ 726954 h 3687071"/>
              <a:gd name="connsiteX3-19" fmla="*/ 4302538 w 5315456"/>
              <a:gd name="connsiteY3-20" fmla="*/ 1958879 h 3687071"/>
              <a:gd name="connsiteX4-21" fmla="*/ 1782258 w 5315456"/>
              <a:gd name="connsiteY4-22" fmla="*/ 3687071 h 3687071"/>
              <a:gd name="connsiteX5-23" fmla="*/ 0 w 5315456"/>
              <a:gd name="connsiteY5-24" fmla="*/ 2846277 h 3687071"/>
              <a:gd name="connsiteX0-25" fmla="*/ 0 w 5412392"/>
              <a:gd name="connsiteY0-26" fmla="*/ 2846277 h 3687071"/>
              <a:gd name="connsiteX1-27" fmla="*/ 5278752 w 5412392"/>
              <a:gd name="connsiteY1-28" fmla="*/ 0 h 3687071"/>
              <a:gd name="connsiteX2-29" fmla="*/ 5035513 w 5412392"/>
              <a:gd name="connsiteY2-30" fmla="*/ 726954 h 3687071"/>
              <a:gd name="connsiteX3-31" fmla="*/ 4302538 w 5412392"/>
              <a:gd name="connsiteY3-32" fmla="*/ 1958879 h 3687071"/>
              <a:gd name="connsiteX4-33" fmla="*/ 1782258 w 5412392"/>
              <a:gd name="connsiteY4-34" fmla="*/ 3687071 h 3687071"/>
              <a:gd name="connsiteX5-35" fmla="*/ 0 w 5412392"/>
              <a:gd name="connsiteY5-36" fmla="*/ 2846277 h 3687071"/>
              <a:gd name="connsiteX0-37" fmla="*/ 0 w 5349044"/>
              <a:gd name="connsiteY0-38" fmla="*/ 2846277 h 3687071"/>
              <a:gd name="connsiteX1-39" fmla="*/ 5278752 w 5349044"/>
              <a:gd name="connsiteY1-40" fmla="*/ 0 h 3687071"/>
              <a:gd name="connsiteX2-41" fmla="*/ 5035513 w 5349044"/>
              <a:gd name="connsiteY2-42" fmla="*/ 726954 h 3687071"/>
              <a:gd name="connsiteX3-43" fmla="*/ 3764316 w 5349044"/>
              <a:gd name="connsiteY3-44" fmla="*/ 1819608 h 3687071"/>
              <a:gd name="connsiteX4-45" fmla="*/ 1782258 w 5349044"/>
              <a:gd name="connsiteY4-46" fmla="*/ 3687071 h 3687071"/>
              <a:gd name="connsiteX5-47" fmla="*/ 0 w 5349044"/>
              <a:gd name="connsiteY5-48" fmla="*/ 2846277 h 36870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349044" h="3687071">
                <a:moveTo>
                  <a:pt x="0" y="2846277"/>
                </a:moveTo>
                <a:lnTo>
                  <a:pt x="5278752" y="0"/>
                </a:lnTo>
                <a:cubicBezTo>
                  <a:pt x="5448793" y="184715"/>
                  <a:pt x="5287919" y="423686"/>
                  <a:pt x="5035513" y="726954"/>
                </a:cubicBezTo>
                <a:cubicBezTo>
                  <a:pt x="4783107" y="1030222"/>
                  <a:pt x="4374149" y="1187126"/>
                  <a:pt x="3764316" y="1819608"/>
                </a:cubicBezTo>
                <a:cubicBezTo>
                  <a:pt x="3154483" y="2452090"/>
                  <a:pt x="3174170" y="3687071"/>
                  <a:pt x="1782258" y="3687071"/>
                </a:cubicBezTo>
                <a:cubicBezTo>
                  <a:pt x="986237" y="3687071"/>
                  <a:pt x="420503" y="3284399"/>
                  <a:pt x="0" y="284627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椭圆 14"/>
          <p:cNvSpPr/>
          <p:nvPr/>
        </p:nvSpPr>
        <p:spPr>
          <a:xfrm rot="1700000">
            <a:off x="419735" y="-1096645"/>
            <a:ext cx="4086860" cy="2800985"/>
          </a:xfrm>
          <a:custGeom>
            <a:avLst/>
            <a:gdLst>
              <a:gd name="connsiteX0" fmla="*/ 0 w 5305655"/>
              <a:gd name="connsiteY0" fmla="*/ 2846277 h 3687071"/>
              <a:gd name="connsiteX1" fmla="*/ 5278752 w 5305655"/>
              <a:gd name="connsiteY1" fmla="*/ 0 h 3687071"/>
              <a:gd name="connsiteX2" fmla="*/ 4696590 w 5305655"/>
              <a:gd name="connsiteY2" fmla="*/ 661908 h 3687071"/>
              <a:gd name="connsiteX3" fmla="*/ 4302538 w 5305655"/>
              <a:gd name="connsiteY3" fmla="*/ 1958879 h 3687071"/>
              <a:gd name="connsiteX4" fmla="*/ 1782258 w 5305655"/>
              <a:gd name="connsiteY4" fmla="*/ 3687071 h 3687071"/>
              <a:gd name="connsiteX5" fmla="*/ 0 w 5305655"/>
              <a:gd name="connsiteY5" fmla="*/ 2846277 h 3687071"/>
              <a:gd name="connsiteX0-1" fmla="*/ 0 w 5302053"/>
              <a:gd name="connsiteY0-2" fmla="*/ 2846277 h 3687071"/>
              <a:gd name="connsiteX1-3" fmla="*/ 5278752 w 5302053"/>
              <a:gd name="connsiteY1-4" fmla="*/ 0 h 3687071"/>
              <a:gd name="connsiteX2-5" fmla="*/ 4696590 w 5302053"/>
              <a:gd name="connsiteY2-6" fmla="*/ 661908 h 3687071"/>
              <a:gd name="connsiteX3-7" fmla="*/ 4302538 w 5302053"/>
              <a:gd name="connsiteY3-8" fmla="*/ 1958879 h 3687071"/>
              <a:gd name="connsiteX4-9" fmla="*/ 1782258 w 5302053"/>
              <a:gd name="connsiteY4-10" fmla="*/ 3687071 h 3687071"/>
              <a:gd name="connsiteX5-11" fmla="*/ 0 w 5302053"/>
              <a:gd name="connsiteY5-12" fmla="*/ 2846277 h 3687071"/>
              <a:gd name="connsiteX0-13" fmla="*/ 0 w 5315456"/>
              <a:gd name="connsiteY0-14" fmla="*/ 2846277 h 3687071"/>
              <a:gd name="connsiteX1-15" fmla="*/ 5278752 w 5315456"/>
              <a:gd name="connsiteY1-16" fmla="*/ 0 h 3687071"/>
              <a:gd name="connsiteX2-17" fmla="*/ 5035513 w 5315456"/>
              <a:gd name="connsiteY2-18" fmla="*/ 726954 h 3687071"/>
              <a:gd name="connsiteX3-19" fmla="*/ 4302538 w 5315456"/>
              <a:gd name="connsiteY3-20" fmla="*/ 1958879 h 3687071"/>
              <a:gd name="connsiteX4-21" fmla="*/ 1782258 w 5315456"/>
              <a:gd name="connsiteY4-22" fmla="*/ 3687071 h 3687071"/>
              <a:gd name="connsiteX5-23" fmla="*/ 0 w 5315456"/>
              <a:gd name="connsiteY5-24" fmla="*/ 2846277 h 3687071"/>
              <a:gd name="connsiteX0-25" fmla="*/ 0 w 5412392"/>
              <a:gd name="connsiteY0-26" fmla="*/ 2846277 h 3687071"/>
              <a:gd name="connsiteX1-27" fmla="*/ 5278752 w 5412392"/>
              <a:gd name="connsiteY1-28" fmla="*/ 0 h 3687071"/>
              <a:gd name="connsiteX2-29" fmla="*/ 5035513 w 5412392"/>
              <a:gd name="connsiteY2-30" fmla="*/ 726954 h 3687071"/>
              <a:gd name="connsiteX3-31" fmla="*/ 4302538 w 5412392"/>
              <a:gd name="connsiteY3-32" fmla="*/ 1958879 h 3687071"/>
              <a:gd name="connsiteX4-33" fmla="*/ 1782258 w 5412392"/>
              <a:gd name="connsiteY4-34" fmla="*/ 3687071 h 3687071"/>
              <a:gd name="connsiteX5-35" fmla="*/ 0 w 5412392"/>
              <a:gd name="connsiteY5-36" fmla="*/ 2846277 h 3687071"/>
              <a:gd name="connsiteX0-37" fmla="*/ 0 w 5349044"/>
              <a:gd name="connsiteY0-38" fmla="*/ 2846277 h 3687071"/>
              <a:gd name="connsiteX1-39" fmla="*/ 5278752 w 5349044"/>
              <a:gd name="connsiteY1-40" fmla="*/ 0 h 3687071"/>
              <a:gd name="connsiteX2-41" fmla="*/ 5035513 w 5349044"/>
              <a:gd name="connsiteY2-42" fmla="*/ 726954 h 3687071"/>
              <a:gd name="connsiteX3-43" fmla="*/ 3764316 w 5349044"/>
              <a:gd name="connsiteY3-44" fmla="*/ 1819608 h 3687071"/>
              <a:gd name="connsiteX4-45" fmla="*/ 1782258 w 5349044"/>
              <a:gd name="connsiteY4-46" fmla="*/ 3687071 h 3687071"/>
              <a:gd name="connsiteX5-47" fmla="*/ 0 w 5349044"/>
              <a:gd name="connsiteY5-48" fmla="*/ 2846277 h 36870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349044" h="3687071">
                <a:moveTo>
                  <a:pt x="0" y="2846277"/>
                </a:moveTo>
                <a:lnTo>
                  <a:pt x="5278752" y="0"/>
                </a:lnTo>
                <a:cubicBezTo>
                  <a:pt x="5448793" y="184715"/>
                  <a:pt x="5287919" y="423686"/>
                  <a:pt x="5035513" y="726954"/>
                </a:cubicBezTo>
                <a:cubicBezTo>
                  <a:pt x="4783107" y="1030222"/>
                  <a:pt x="4374149" y="1187126"/>
                  <a:pt x="3764316" y="1819608"/>
                </a:cubicBezTo>
                <a:cubicBezTo>
                  <a:pt x="3154483" y="2452090"/>
                  <a:pt x="3174170" y="3687071"/>
                  <a:pt x="1782258" y="3687071"/>
                </a:cubicBezTo>
                <a:cubicBezTo>
                  <a:pt x="986237" y="3687071"/>
                  <a:pt x="420503" y="3284399"/>
                  <a:pt x="0" y="284627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资料带 5"/>
          <p:cNvSpPr/>
          <p:nvPr/>
        </p:nvSpPr>
        <p:spPr>
          <a:xfrm>
            <a:off x="550545" y="6237605"/>
            <a:ext cx="11377295" cy="1080135"/>
          </a:xfrm>
          <a:prstGeom prst="flowChartPunchedTa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838517" y="2277110"/>
          <a:ext cx="10482580" cy="0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620645"/>
                <a:gridCol w="2620645"/>
                <a:gridCol w="2620645"/>
                <a:gridCol w="2620645"/>
              </a:tblGrid>
              <a:tr h="0">
                <a:tc>
                  <a:txBody>
                    <a:bodyPr/>
                    <a:p>
                      <a:r>
                        <a:rPr lang="zh-CN" altLang="en-US" sz="1100"/>
                        <a:t>框架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接近程度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更像什么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不足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hlinkClick r:id="rId1"/>
                        </a:rPr>
                        <a:t>TimeSeriesScientist</a:t>
                      </a:r>
                      <a:endParaRPr lang="en-US" altLang="zh-CN" sz="110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hlinkClick r:id="rId1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高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LLM </a:t>
                      </a:r>
                      <a:r>
                        <a:rPr lang="zh-CN" altLang="en-US" sz="1100"/>
                        <a:t>驱动的时间序列分析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预测工作流 </a:t>
                      </a:r>
                      <a:r>
                        <a:rPr lang="en-US" altLang="zh-CN" sz="1100"/>
                        <a:t>Agent</a:t>
                      </a:r>
                      <a:r>
                        <a:rPr lang="zh-CN" altLang="en-US" sz="1100"/>
                        <a:t>，有 </a:t>
                      </a:r>
                      <a:r>
                        <a:rPr lang="en-US" altLang="zh-CN" sz="1100"/>
                        <a:t>Curator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Planner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Forecaster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Reporter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主要还是 </a:t>
                      </a:r>
                      <a:r>
                        <a:rPr lang="en-US" altLang="zh-CN" sz="1100"/>
                        <a:t>forecasting workflow</a:t>
                      </a:r>
                      <a:r>
                        <a:rPr lang="zh-CN" altLang="en-US" sz="1100"/>
                        <a:t>，不是真正外部决策闭环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hlinkClick r:id="rId2"/>
                        </a:rPr>
                        <a:t>Cast-R1</a:t>
                      </a:r>
                      <a:endParaRPr lang="en-US" altLang="zh-CN" sz="110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hlinkClick r:id="rId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很高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把 </a:t>
                      </a:r>
                      <a:r>
                        <a:rPr lang="en-US" altLang="zh-CN" sz="1100"/>
                        <a:t>forecasting </a:t>
                      </a:r>
                      <a:r>
                        <a:rPr lang="zh-CN" altLang="en-US" sz="1100"/>
                        <a:t>改造成“工具增强的序列决策问题”，有状态、工具、记忆、</a:t>
                      </a:r>
                      <a:r>
                        <a:rPr lang="en-US" altLang="zh-CN" sz="1100"/>
                        <a:t>RL </a:t>
                      </a:r>
                      <a:r>
                        <a:rPr lang="zh-CN" altLang="en-US" sz="1100"/>
                        <a:t>训练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仍主要服务预测改进，外部行动和真实反馈有限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hlinkClick r:id="rId3"/>
                        </a:rPr>
                        <a:t>TimeART</a:t>
                      </a:r>
                      <a:endParaRPr lang="en-US" altLang="zh-CN" sz="110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hlinkClick r:id="rId3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中高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工具增强的时间序列推理 </a:t>
                      </a:r>
                      <a:r>
                        <a:rPr lang="en-US" altLang="zh-CN" sz="1100"/>
                        <a:t>Agent</a:t>
                      </a:r>
                      <a:r>
                        <a:rPr lang="zh-CN" altLang="en-US" sz="1100"/>
                        <a:t>，可调用分解、异常、变化点、预测工具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偏问答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推理，不是完整业务决策系统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hlinkClick r:id="rId4"/>
                        </a:rPr>
                        <a:t>KairosAgent</a:t>
                      </a:r>
                      <a:endParaRPr lang="en-US" altLang="zh-CN" sz="110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hlinkClick r:id="rId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中高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LLM reasoner + TS foundation model + </a:t>
                      </a:r>
                      <a:r>
                        <a:rPr lang="zh-CN" altLang="en-US" sz="1100"/>
                        <a:t>工具调用，用于多模态预测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重点仍是提升 </a:t>
                      </a:r>
                      <a:r>
                        <a:rPr lang="en-US" altLang="zh-CN" sz="1100"/>
                        <a:t>forecast</a:t>
                      </a:r>
                      <a:r>
                        <a:rPr lang="zh-CN" altLang="en-US" sz="1100"/>
                        <a:t>，不是行动后反馈闭环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hlinkClick r:id="rId5"/>
                        </a:rPr>
                        <a:t>FinMem</a:t>
                      </a:r>
                      <a:endParaRPr lang="en-US" altLang="zh-CN" sz="110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hlinkClick r:id="rId5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高，但领域窄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金融交易 </a:t>
                      </a:r>
                      <a:r>
                        <a:rPr lang="en-US" altLang="zh-CN" sz="1100"/>
                        <a:t>Agent</a:t>
                      </a:r>
                      <a:r>
                        <a:rPr lang="zh-CN" altLang="en-US" sz="1100"/>
                        <a:t>，有分层记忆和投资决策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只在金融交易场景，泛化性和安全性有限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hlinkClick r:id="rId6"/>
                        </a:rPr>
                        <a:t>TradingAgents</a:t>
                      </a:r>
                      <a:endParaRPr lang="en-US" altLang="zh-CN" sz="110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hlinkClick r:id="rId6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高，但领域窄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多智能体金融交易框架，分析师、交易员、风险管理角色协作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更像模拟交易团队，不是通用时间序列 </a:t>
                      </a:r>
                      <a:r>
                        <a:rPr lang="en-US" altLang="zh-CN" sz="1100"/>
                        <a:t>Agent </a:t>
                      </a:r>
                      <a:r>
                        <a:rPr lang="zh-CN" altLang="en-US" sz="1100"/>
                        <a:t>标准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982345" y="4653280"/>
            <a:ext cx="997966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目前所谓 </a:t>
            </a:r>
            <a:r>
              <a:rPr lang="en-US" altLang="zh-CN" sz="1600"/>
              <a:t>Agentic Time Series </a:t>
            </a:r>
            <a:r>
              <a:rPr lang="zh-CN" altLang="en-US" sz="1600"/>
              <a:t>还没有形成成熟统一框架，更多是分散原型：有的解决工具增强推理，有的解决预测工作流自动化，有的在金融交易中实现局部闭环。论文的价值正是在这些零散工作之上，提出一个统一的能力框架。</a:t>
            </a:r>
            <a:endParaRPr lang="zh-CN" altLang="en-US" sz="1600"/>
          </a:p>
        </p:txBody>
      </p:sp>
      <p:sp>
        <p:nvSpPr>
          <p:cNvPr id="4" name="文本框 3"/>
          <p:cNvSpPr txBox="1"/>
          <p:nvPr/>
        </p:nvSpPr>
        <p:spPr>
          <a:xfrm>
            <a:off x="1558290" y="1484630"/>
            <a:ext cx="661289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已经有一些接近论文描述的原型</a:t>
            </a:r>
            <a:r>
              <a:rPr lang="en-US" altLang="zh-CN" sz="1600"/>
              <a:t>/</a:t>
            </a:r>
            <a:r>
              <a:rPr lang="zh-CN" altLang="en-US" sz="1600"/>
              <a:t>研究框架，只是成熟度不一样。</a:t>
            </a:r>
            <a:endParaRPr lang="zh-CN" altLang="en-US" sz="1600"/>
          </a:p>
        </p:txBody>
      </p:sp>
      <p:sp>
        <p:nvSpPr>
          <p:cNvPr id="5" name="文本框 4"/>
          <p:cNvSpPr txBox="1"/>
          <p:nvPr/>
        </p:nvSpPr>
        <p:spPr>
          <a:xfrm>
            <a:off x="672465" y="335915"/>
            <a:ext cx="4342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有这样的系统吗</a:t>
            </a:r>
            <a:r>
              <a:rPr lang="en-US" altLang="zh-CN"/>
              <a:t>？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4"/>
          <p:cNvSpPr/>
          <p:nvPr/>
        </p:nvSpPr>
        <p:spPr>
          <a:xfrm rot="1700000">
            <a:off x="141854" y="-1390015"/>
            <a:ext cx="4744878" cy="3382492"/>
          </a:xfrm>
          <a:custGeom>
            <a:avLst/>
            <a:gdLst>
              <a:gd name="connsiteX0" fmla="*/ 0 w 5305655"/>
              <a:gd name="connsiteY0" fmla="*/ 2846277 h 3687071"/>
              <a:gd name="connsiteX1" fmla="*/ 5278752 w 5305655"/>
              <a:gd name="connsiteY1" fmla="*/ 0 h 3687071"/>
              <a:gd name="connsiteX2" fmla="*/ 4696590 w 5305655"/>
              <a:gd name="connsiteY2" fmla="*/ 661908 h 3687071"/>
              <a:gd name="connsiteX3" fmla="*/ 4302538 w 5305655"/>
              <a:gd name="connsiteY3" fmla="*/ 1958879 h 3687071"/>
              <a:gd name="connsiteX4" fmla="*/ 1782258 w 5305655"/>
              <a:gd name="connsiteY4" fmla="*/ 3687071 h 3687071"/>
              <a:gd name="connsiteX5" fmla="*/ 0 w 5305655"/>
              <a:gd name="connsiteY5" fmla="*/ 2846277 h 3687071"/>
              <a:gd name="connsiteX0-1" fmla="*/ 0 w 5302053"/>
              <a:gd name="connsiteY0-2" fmla="*/ 2846277 h 3687071"/>
              <a:gd name="connsiteX1-3" fmla="*/ 5278752 w 5302053"/>
              <a:gd name="connsiteY1-4" fmla="*/ 0 h 3687071"/>
              <a:gd name="connsiteX2-5" fmla="*/ 4696590 w 5302053"/>
              <a:gd name="connsiteY2-6" fmla="*/ 661908 h 3687071"/>
              <a:gd name="connsiteX3-7" fmla="*/ 4302538 w 5302053"/>
              <a:gd name="connsiteY3-8" fmla="*/ 1958879 h 3687071"/>
              <a:gd name="connsiteX4-9" fmla="*/ 1782258 w 5302053"/>
              <a:gd name="connsiteY4-10" fmla="*/ 3687071 h 3687071"/>
              <a:gd name="connsiteX5-11" fmla="*/ 0 w 5302053"/>
              <a:gd name="connsiteY5-12" fmla="*/ 2846277 h 3687071"/>
              <a:gd name="connsiteX0-13" fmla="*/ 0 w 5315456"/>
              <a:gd name="connsiteY0-14" fmla="*/ 2846277 h 3687071"/>
              <a:gd name="connsiteX1-15" fmla="*/ 5278752 w 5315456"/>
              <a:gd name="connsiteY1-16" fmla="*/ 0 h 3687071"/>
              <a:gd name="connsiteX2-17" fmla="*/ 5035513 w 5315456"/>
              <a:gd name="connsiteY2-18" fmla="*/ 726954 h 3687071"/>
              <a:gd name="connsiteX3-19" fmla="*/ 4302538 w 5315456"/>
              <a:gd name="connsiteY3-20" fmla="*/ 1958879 h 3687071"/>
              <a:gd name="connsiteX4-21" fmla="*/ 1782258 w 5315456"/>
              <a:gd name="connsiteY4-22" fmla="*/ 3687071 h 3687071"/>
              <a:gd name="connsiteX5-23" fmla="*/ 0 w 5315456"/>
              <a:gd name="connsiteY5-24" fmla="*/ 2846277 h 3687071"/>
              <a:gd name="connsiteX0-25" fmla="*/ 0 w 5412392"/>
              <a:gd name="connsiteY0-26" fmla="*/ 2846277 h 3687071"/>
              <a:gd name="connsiteX1-27" fmla="*/ 5278752 w 5412392"/>
              <a:gd name="connsiteY1-28" fmla="*/ 0 h 3687071"/>
              <a:gd name="connsiteX2-29" fmla="*/ 5035513 w 5412392"/>
              <a:gd name="connsiteY2-30" fmla="*/ 726954 h 3687071"/>
              <a:gd name="connsiteX3-31" fmla="*/ 4302538 w 5412392"/>
              <a:gd name="connsiteY3-32" fmla="*/ 1958879 h 3687071"/>
              <a:gd name="connsiteX4-33" fmla="*/ 1782258 w 5412392"/>
              <a:gd name="connsiteY4-34" fmla="*/ 3687071 h 3687071"/>
              <a:gd name="connsiteX5-35" fmla="*/ 0 w 5412392"/>
              <a:gd name="connsiteY5-36" fmla="*/ 2846277 h 3687071"/>
              <a:gd name="connsiteX0-37" fmla="*/ 0 w 5349044"/>
              <a:gd name="connsiteY0-38" fmla="*/ 2846277 h 3687071"/>
              <a:gd name="connsiteX1-39" fmla="*/ 5278752 w 5349044"/>
              <a:gd name="connsiteY1-40" fmla="*/ 0 h 3687071"/>
              <a:gd name="connsiteX2-41" fmla="*/ 5035513 w 5349044"/>
              <a:gd name="connsiteY2-42" fmla="*/ 726954 h 3687071"/>
              <a:gd name="connsiteX3-43" fmla="*/ 3764316 w 5349044"/>
              <a:gd name="connsiteY3-44" fmla="*/ 1819608 h 3687071"/>
              <a:gd name="connsiteX4-45" fmla="*/ 1782258 w 5349044"/>
              <a:gd name="connsiteY4-46" fmla="*/ 3687071 h 3687071"/>
              <a:gd name="connsiteX5-47" fmla="*/ 0 w 5349044"/>
              <a:gd name="connsiteY5-48" fmla="*/ 2846277 h 36870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349044" h="3687071">
                <a:moveTo>
                  <a:pt x="0" y="2846277"/>
                </a:moveTo>
                <a:lnTo>
                  <a:pt x="5278752" y="0"/>
                </a:lnTo>
                <a:cubicBezTo>
                  <a:pt x="5448793" y="184715"/>
                  <a:pt x="5287919" y="423686"/>
                  <a:pt x="5035513" y="726954"/>
                </a:cubicBezTo>
                <a:cubicBezTo>
                  <a:pt x="4783107" y="1030222"/>
                  <a:pt x="4374149" y="1187126"/>
                  <a:pt x="3764316" y="1819608"/>
                </a:cubicBezTo>
                <a:cubicBezTo>
                  <a:pt x="3154483" y="2452090"/>
                  <a:pt x="3174170" y="3687071"/>
                  <a:pt x="1782258" y="3687071"/>
                </a:cubicBezTo>
                <a:cubicBezTo>
                  <a:pt x="986237" y="3687071"/>
                  <a:pt x="420503" y="3284399"/>
                  <a:pt x="0" y="284627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009448" y="111825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思源黑体 CN Bold" pitchFamily="34" charset="-122"/>
                <a:ea typeface="思源黑体 CN Bold" pitchFamily="34" charset="-122"/>
              </a:rPr>
              <a:t>结论</a:t>
            </a:r>
            <a:endParaRPr lang="zh-CN" altLang="en-US" sz="3200" dirty="0">
              <a:latin typeface="思源黑体 CN Bold" pitchFamily="34" charset="-122"/>
              <a:ea typeface="思源黑体 CN Bold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 flipH="1">
            <a:off x="10957816" y="15877"/>
            <a:ext cx="1198880" cy="7317432"/>
            <a:chOff x="11265" y="0"/>
            <a:chExt cx="1198880" cy="7317432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1054646" y="0"/>
              <a:ext cx="0" cy="7317432"/>
            </a:xfrm>
            <a:prstGeom prst="line">
              <a:avLst/>
            </a:prstGeom>
            <a:ln cap="sq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 rot="16200000">
              <a:off x="455765" y="4589464"/>
              <a:ext cx="309880" cy="11988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7200" b="1" dirty="0">
                <a:latin typeface="Roboto Th" pitchFamily="2" charset="0"/>
                <a:ea typeface="浪漫雅圆" panose="02010601040101010101" pitchFamily="2" charset="-122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 rot="16200000">
              <a:off x="-1262984" y="2384571"/>
              <a:ext cx="394761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en-US" altLang="zh-CN" sz="2000" spc="150" dirty="0">
                  <a:solidFill>
                    <a:schemeClr val="bg1">
                      <a:lumMod val="75000"/>
                      <a:alpha val="64000"/>
                    </a:schemeClr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SOUTH CHINA UNIVERSITY</a:t>
              </a:r>
              <a:endParaRPr lang="en-US" altLang="zh-CN" sz="2000" spc="150" dirty="0">
                <a:solidFill>
                  <a:schemeClr val="bg1">
                    <a:lumMod val="75000"/>
                    <a:alpha val="64000"/>
                  </a:schemeClr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  <a:p>
              <a:pPr algn="dist"/>
              <a:r>
                <a:rPr lang="en-US" altLang="zh-CN" sz="2000" spc="150" dirty="0">
                  <a:solidFill>
                    <a:schemeClr val="bg1">
                      <a:lumMod val="75000"/>
                      <a:alpha val="64000"/>
                    </a:schemeClr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OF TECHNOLOGY</a:t>
              </a:r>
              <a:endParaRPr lang="zh-CN" altLang="en-US" sz="2000" spc="150" dirty="0">
                <a:solidFill>
                  <a:schemeClr val="bg1">
                    <a:lumMod val="75000"/>
                    <a:alpha val="64000"/>
                  </a:schemeClr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982638" y="1340768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5519142" y="6078519"/>
            <a:ext cx="6934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378585" y="1799590"/>
            <a:ext cx="7256145" cy="323850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Aft>
                <a:spcPct val="60000"/>
              </a:spcAft>
            </a:pPr>
            <a:r>
              <a:rPr lang="zh-CN" altLang="en-US" sz="2000" b="1" i="0">
                <a:latin typeface="-apple-system-body"/>
                <a:ea typeface="-apple-system-body"/>
              </a:rPr>
              <a:t>论文主要贡献（</a:t>
            </a:r>
            <a:r>
              <a:rPr lang="en-US" altLang="zh-CN" sz="2000" b="1" i="0">
                <a:latin typeface="-apple-system-body"/>
                <a:ea typeface="-apple-system-body"/>
              </a:rPr>
              <a:t>Contributions</a:t>
            </a:r>
            <a:r>
              <a:rPr lang="zh-CN" altLang="en-US" sz="2000" b="1" i="0">
                <a:latin typeface="-apple-system-body"/>
                <a:ea typeface="-apple-system-body"/>
              </a:rPr>
              <a:t>）</a:t>
            </a:r>
            <a:endParaRPr lang="zh-CN" altLang="en-US" sz="2000" b="1" i="0">
              <a:latin typeface="-apple-system-body"/>
              <a:ea typeface="-apple-system-body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首次系统定义了 </a:t>
            </a:r>
            <a:r>
              <a:rPr lang="en-US" altLang="zh-CN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Agentic Time Series</a:t>
            </a: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，明确区分了 </a:t>
            </a:r>
            <a:r>
              <a:rPr lang="en-US" altLang="zh-CN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Foundation Model</a:t>
            </a: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、</a:t>
            </a:r>
            <a:r>
              <a:rPr lang="en-US" altLang="zh-CN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Translator</a:t>
            </a: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、</a:t>
            </a:r>
            <a:r>
              <a:rPr lang="en-US" altLang="zh-CN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Reasoner </a:t>
            </a: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和 </a:t>
            </a:r>
            <a:r>
              <a:rPr lang="en-US" altLang="zh-CN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Agent </a:t>
            </a: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四种范式。</a:t>
            </a:r>
            <a:endParaRPr lang="zh-CN" altLang="en-US" sz="2000" b="0" i="0">
              <a:solidFill>
                <a:srgbClr val="0D0D0D"/>
              </a:solidFill>
              <a:latin typeface="-apple-system-body"/>
              <a:ea typeface="-apple-system-body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提出了五层能力架构（</a:t>
            </a:r>
            <a:r>
              <a:rPr lang="en-US" altLang="zh-CN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Perception</a:t>
            </a: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、</a:t>
            </a:r>
            <a:r>
              <a:rPr lang="en-US" altLang="zh-CN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Reasoning</a:t>
            </a: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、</a:t>
            </a:r>
            <a:r>
              <a:rPr lang="en-US" altLang="zh-CN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Planning</a:t>
            </a: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、</a:t>
            </a:r>
            <a:r>
              <a:rPr lang="en-US" altLang="zh-CN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Memory</a:t>
            </a: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、</a:t>
            </a:r>
            <a:r>
              <a:rPr lang="en-US" altLang="zh-CN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World Model</a:t>
            </a: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），为 </a:t>
            </a:r>
            <a:r>
              <a:rPr lang="en-US" altLang="zh-CN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Agentic Time Series </a:t>
            </a: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建立了统一的能力框架。</a:t>
            </a:r>
            <a:endParaRPr lang="zh-CN" altLang="en-US" sz="2000" b="0" i="0">
              <a:solidFill>
                <a:srgbClr val="0D0D0D"/>
              </a:solidFill>
              <a:latin typeface="-apple-system-body"/>
              <a:ea typeface="-apple-system-body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将 </a:t>
            </a:r>
            <a:r>
              <a:rPr lang="en-US" altLang="zh-CN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Reliability</a:t>
            </a: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（可靠性）作为贯穿整个 </a:t>
            </a:r>
            <a:r>
              <a:rPr lang="en-US" altLang="zh-CN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Agent </a:t>
            </a: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生命周期的核心评价维度，而不仅仅关注预测精度。</a:t>
            </a:r>
            <a:endParaRPr lang="zh-CN" altLang="en-US" sz="2000" b="0" i="0">
              <a:solidFill>
                <a:srgbClr val="0D0D0D"/>
              </a:solidFill>
              <a:latin typeface="-apple-system-body"/>
              <a:ea typeface="-apple-system-body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系统梳理了 </a:t>
            </a:r>
            <a:r>
              <a:rPr lang="en-US" altLang="zh-CN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Agentic Time Series </a:t>
            </a: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的代表性方法、</a:t>
            </a:r>
            <a:r>
              <a:rPr lang="en-US" altLang="zh-CN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Benchmark</a:t>
            </a:r>
            <a:r>
              <a:rPr lang="zh-CN" altLang="en-US" sz="2000" b="0" i="0">
                <a:solidFill>
                  <a:srgbClr val="0D0D0D"/>
                </a:solidFill>
                <a:latin typeface="-apple-system-body"/>
                <a:ea typeface="-apple-system-body"/>
              </a:rPr>
              <a:t>、应用场景及未来发展方向，构建了完整的领域研究路线图。</a:t>
            </a:r>
            <a:endParaRPr lang="zh-CN" altLang="en-US" sz="2000" b="0" i="0">
              <a:solidFill>
                <a:srgbClr val="0D0D0D"/>
              </a:solidFill>
              <a:latin typeface="-apple-system-body"/>
              <a:ea typeface="-apple-system-bod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/>
        </p:nvSpPr>
        <p:spPr>
          <a:xfrm rot="1700000">
            <a:off x="-1427608" y="4553072"/>
            <a:ext cx="6622839" cy="4360290"/>
          </a:xfrm>
          <a:custGeom>
            <a:avLst/>
            <a:gdLst>
              <a:gd name="connsiteX0" fmla="*/ 0 w 5040560"/>
              <a:gd name="connsiteY0" fmla="*/ 1728192 h 3456384"/>
              <a:gd name="connsiteX1" fmla="*/ 2520280 w 5040560"/>
              <a:gd name="connsiteY1" fmla="*/ 0 h 3456384"/>
              <a:gd name="connsiteX2" fmla="*/ 5040560 w 5040560"/>
              <a:gd name="connsiteY2" fmla="*/ 1728192 h 3456384"/>
              <a:gd name="connsiteX3" fmla="*/ 2520280 w 5040560"/>
              <a:gd name="connsiteY3" fmla="*/ 3456384 h 3456384"/>
              <a:gd name="connsiteX4" fmla="*/ 0 w 5040560"/>
              <a:gd name="connsiteY4" fmla="*/ 1728192 h 3456384"/>
              <a:gd name="connsiteX0-1" fmla="*/ 389807 w 5430367"/>
              <a:gd name="connsiteY0-2" fmla="*/ 1786778 h 3514970"/>
              <a:gd name="connsiteX1-3" fmla="*/ 266659 w 5430367"/>
              <a:gd name="connsiteY1-4" fmla="*/ 532983 h 3514970"/>
              <a:gd name="connsiteX2-5" fmla="*/ 2910087 w 5430367"/>
              <a:gd name="connsiteY2-6" fmla="*/ 58586 h 3514970"/>
              <a:gd name="connsiteX3-7" fmla="*/ 5430367 w 5430367"/>
              <a:gd name="connsiteY3-8" fmla="*/ 1786778 h 3514970"/>
              <a:gd name="connsiteX4-9" fmla="*/ 2910087 w 5430367"/>
              <a:gd name="connsiteY4-10" fmla="*/ 3514970 h 3514970"/>
              <a:gd name="connsiteX5" fmla="*/ 389807 w 5430367"/>
              <a:gd name="connsiteY5" fmla="*/ 1786778 h 3514970"/>
              <a:gd name="connsiteX0-11" fmla="*/ 389807 w 5430367"/>
              <a:gd name="connsiteY0-12" fmla="*/ 1725535 h 3453727"/>
              <a:gd name="connsiteX1-13" fmla="*/ 266659 w 5430367"/>
              <a:gd name="connsiteY1-14" fmla="*/ 471740 h 3453727"/>
              <a:gd name="connsiteX2-15" fmla="*/ 2935461 w 5430367"/>
              <a:gd name="connsiteY2-16" fmla="*/ 66298 h 3453727"/>
              <a:gd name="connsiteX3-17" fmla="*/ 5430367 w 5430367"/>
              <a:gd name="connsiteY3-18" fmla="*/ 1725535 h 3453727"/>
              <a:gd name="connsiteX4-19" fmla="*/ 2910087 w 5430367"/>
              <a:gd name="connsiteY4-20" fmla="*/ 3453727 h 3453727"/>
              <a:gd name="connsiteX5-21" fmla="*/ 389807 w 5430367"/>
              <a:gd name="connsiteY5-22" fmla="*/ 1725535 h 3453727"/>
              <a:gd name="connsiteX0-23" fmla="*/ 389807 w 6638132"/>
              <a:gd name="connsiteY0-24" fmla="*/ 2685133 h 4413325"/>
              <a:gd name="connsiteX1-25" fmla="*/ 266659 w 6638132"/>
              <a:gd name="connsiteY1-26" fmla="*/ 1431338 h 4413325"/>
              <a:gd name="connsiteX2-27" fmla="*/ 2935461 w 6638132"/>
              <a:gd name="connsiteY2-28" fmla="*/ 1025896 h 4413325"/>
              <a:gd name="connsiteX3-29" fmla="*/ 6556091 w 6638132"/>
              <a:gd name="connsiteY3-30" fmla="*/ 46982 h 4413325"/>
              <a:gd name="connsiteX4-31" fmla="*/ 5430367 w 6638132"/>
              <a:gd name="connsiteY4-32" fmla="*/ 2685133 h 4413325"/>
              <a:gd name="connsiteX5-33" fmla="*/ 2910087 w 6638132"/>
              <a:gd name="connsiteY5-34" fmla="*/ 4413325 h 4413325"/>
              <a:gd name="connsiteX6" fmla="*/ 389807 w 6638132"/>
              <a:gd name="connsiteY6" fmla="*/ 2685133 h 4413325"/>
              <a:gd name="connsiteX0-35" fmla="*/ 389807 w 6888226"/>
              <a:gd name="connsiteY0-36" fmla="*/ 2642072 h 4370264"/>
              <a:gd name="connsiteX1-37" fmla="*/ 266659 w 6888226"/>
              <a:gd name="connsiteY1-38" fmla="*/ 1388277 h 4370264"/>
              <a:gd name="connsiteX2-39" fmla="*/ 2935461 w 6888226"/>
              <a:gd name="connsiteY2-40" fmla="*/ 982835 h 4370264"/>
              <a:gd name="connsiteX3-41" fmla="*/ 6556091 w 6888226"/>
              <a:gd name="connsiteY3-42" fmla="*/ 3921 h 4370264"/>
              <a:gd name="connsiteX4-43" fmla="*/ 6602519 w 6888226"/>
              <a:gd name="connsiteY4-44" fmla="*/ 1206624 h 4370264"/>
              <a:gd name="connsiteX5-45" fmla="*/ 5430367 w 6888226"/>
              <a:gd name="connsiteY5-46" fmla="*/ 2642072 h 4370264"/>
              <a:gd name="connsiteX6-47" fmla="*/ 2910087 w 6888226"/>
              <a:gd name="connsiteY6-48" fmla="*/ 4370264 h 4370264"/>
              <a:gd name="connsiteX7" fmla="*/ 389807 w 6888226"/>
              <a:gd name="connsiteY7" fmla="*/ 2642072 h 4370264"/>
              <a:gd name="connsiteX0-49" fmla="*/ 389807 w 6622839"/>
              <a:gd name="connsiteY0-50" fmla="*/ 2632098 h 4360290"/>
              <a:gd name="connsiteX1-51" fmla="*/ 266659 w 6622839"/>
              <a:gd name="connsiteY1-52" fmla="*/ 1378303 h 4360290"/>
              <a:gd name="connsiteX2-53" fmla="*/ 2935461 w 6622839"/>
              <a:gd name="connsiteY2-54" fmla="*/ 972861 h 4360290"/>
              <a:gd name="connsiteX3-55" fmla="*/ 5026823 w 6622839"/>
              <a:gd name="connsiteY3-56" fmla="*/ 3966 h 4360290"/>
              <a:gd name="connsiteX4-57" fmla="*/ 6602519 w 6622839"/>
              <a:gd name="connsiteY4-58" fmla="*/ 1196650 h 4360290"/>
              <a:gd name="connsiteX5-59" fmla="*/ 5430367 w 6622839"/>
              <a:gd name="connsiteY5-60" fmla="*/ 2632098 h 4360290"/>
              <a:gd name="connsiteX6-61" fmla="*/ 2910087 w 6622839"/>
              <a:gd name="connsiteY6-62" fmla="*/ 4360290 h 4360290"/>
              <a:gd name="connsiteX7-63" fmla="*/ 389807 w 6622839"/>
              <a:gd name="connsiteY7-64" fmla="*/ 2632098 h 436029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47" y="connsiteY6-48"/>
              </a:cxn>
              <a:cxn ang="0">
                <a:pos x="connsiteX7-63" y="connsiteY7-64"/>
              </a:cxn>
            </a:cxnLst>
            <a:rect l="l" t="t" r="r" b="b"/>
            <a:pathLst>
              <a:path w="6622839" h="4360290">
                <a:moveTo>
                  <a:pt x="389807" y="2632098"/>
                </a:moveTo>
                <a:cubicBezTo>
                  <a:pt x="-50764" y="2135100"/>
                  <a:pt x="-153388" y="1666335"/>
                  <a:pt x="266659" y="1378303"/>
                </a:cubicBezTo>
                <a:cubicBezTo>
                  <a:pt x="686706" y="1090271"/>
                  <a:pt x="2142100" y="1201917"/>
                  <a:pt x="2935461" y="972861"/>
                </a:cubicBezTo>
                <a:cubicBezTo>
                  <a:pt x="3728822" y="743805"/>
                  <a:pt x="4421219" y="71877"/>
                  <a:pt x="5026823" y="3966"/>
                </a:cubicBezTo>
                <a:cubicBezTo>
                  <a:pt x="5632427" y="-63945"/>
                  <a:pt x="6790140" y="756958"/>
                  <a:pt x="6602519" y="1196650"/>
                </a:cubicBezTo>
                <a:cubicBezTo>
                  <a:pt x="6414898" y="1636342"/>
                  <a:pt x="6040200" y="1999616"/>
                  <a:pt x="5430367" y="2632098"/>
                </a:cubicBezTo>
                <a:cubicBezTo>
                  <a:pt x="4820534" y="3264580"/>
                  <a:pt x="4301999" y="4360290"/>
                  <a:pt x="2910087" y="4360290"/>
                </a:cubicBezTo>
                <a:cubicBezTo>
                  <a:pt x="1518175" y="4360290"/>
                  <a:pt x="830378" y="3129096"/>
                  <a:pt x="389807" y="263209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147701" y="3933056"/>
            <a:ext cx="0" cy="6735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999105" y="1177925"/>
            <a:ext cx="5046345" cy="9220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5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谢谢</a:t>
            </a:r>
            <a:endParaRPr lang="zh-CN" altLang="en-US" sz="5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5*125"/>
  <p:tag name="TABLE_ENDDRAG_RECT" val="32*383*825*125"/>
</p:tagLst>
</file>

<file path=ppt/tags/tag2.xml><?xml version="1.0" encoding="utf-8"?>
<p:tagLst xmlns:p="http://schemas.openxmlformats.org/presentationml/2006/main">
  <p:tag name="TABLE_ENDDRAG_ORIGIN_RECT" val="841*334"/>
  <p:tag name="TABLE_ENDDRAG_RECT" val="43*118*841*33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3661</Words>
  <Application>WPS 文字</Application>
  <PresentationFormat>自定义</PresentationFormat>
  <Paragraphs>357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43" baseType="lpstr">
      <vt:lpstr>Arial</vt:lpstr>
      <vt:lpstr>宋体</vt:lpstr>
      <vt:lpstr>Wingdings</vt:lpstr>
      <vt:lpstr>思源黑体 CN Bold</vt:lpstr>
      <vt:lpstr>汉仪中黑KW</vt:lpstr>
      <vt:lpstr>微软雅黑</vt:lpstr>
      <vt:lpstr>汉仪旗黑</vt:lpstr>
      <vt:lpstr>Microsoft JhengHei Light</vt:lpstr>
      <vt:lpstr>思源黑体 CN Light</vt:lpstr>
      <vt:lpstr>Roboto Th</vt:lpstr>
      <vt:lpstr>浪漫雅圆</vt:lpstr>
      <vt:lpstr>苹方-简</vt:lpstr>
      <vt:lpstr>汉仪书宋二KW</vt:lpstr>
      <vt:lpstr>Arial Unicode MS</vt:lpstr>
      <vt:lpstr>华文宋体</vt:lpstr>
      <vt:lpstr>Calibri</vt:lpstr>
      <vt:lpstr>Helvetica Neue</vt:lpstr>
      <vt:lpstr>宋体</vt:lpstr>
      <vt:lpstr>Microsoft JhengHei Light</vt:lpstr>
      <vt:lpstr>微软雅黑</vt:lpstr>
      <vt:lpstr>思源黑体 CN Bold</vt:lpstr>
      <vt:lpstr>思源黑体 CN Light</vt:lpstr>
      <vt:lpstr>浪漫雅圆</vt:lpstr>
      <vt:lpstr>Inter</vt:lpstr>
      <vt:lpstr>Thonburi</vt:lpstr>
      <vt:lpstr>-webkit-standard</vt:lpstr>
      <vt:lpstr>Apple Color Emoji</vt:lpstr>
      <vt:lpstr>Arial</vt:lpstr>
      <vt:lpstr>-apple-system-body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wsq</dc:creator>
  <cp:lastModifiedBy>sweetie</cp:lastModifiedBy>
  <cp:revision>43</cp:revision>
  <dcterms:created xsi:type="dcterms:W3CDTF">2026-07-11T15:58:32Z</dcterms:created>
  <dcterms:modified xsi:type="dcterms:W3CDTF">2026-07-11T15:58:32Z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KSOTemplateUUID">
    <vt:lpwstr>v1.0_mb_lbVI0DxYxBohChW9peqCVQ==</vt:lpwstr>
  </property>
  <property fmtid="{D5CDD505-2E9C-101B-9397-08002B2CF9AE}" pid="4" name="ICV">
    <vt:lpwstr>82A934FC76B8E9382868526A8DB5A156_43</vt:lpwstr>
  </property>
</Properties>
</file>