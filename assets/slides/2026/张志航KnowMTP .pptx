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5"/>
  </p:notesMasterIdLst>
  <p:sldIdLst>
    <p:sldId id="624" r:id="rId4"/>
    <p:sldId id="701" r:id="rId6"/>
    <p:sldId id="726" r:id="rId7"/>
    <p:sldId id="702" r:id="rId8"/>
    <p:sldId id="703" r:id="rId9"/>
    <p:sldId id="709" r:id="rId10"/>
    <p:sldId id="719" r:id="rId11"/>
    <p:sldId id="716" r:id="rId12"/>
    <p:sldId id="720" r:id="rId13"/>
    <p:sldId id="711" r:id="rId14"/>
    <p:sldId id="723" r:id="rId15"/>
    <p:sldId id="27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F87"/>
    <a:srgbClr val="F3F3F3"/>
    <a:srgbClr val="009F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33"/>
    <p:restoredTop sz="91201" autoAdjust="0"/>
  </p:normalViewPr>
  <p:slideViewPr>
    <p:cSldViewPr snapToGrid="0" snapToObjects="1">
      <p:cViewPr varScale="1">
        <p:scale>
          <a:sx n="99" d="100"/>
          <a:sy n="99" d="100"/>
        </p:scale>
        <p:origin x="1278" y="8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8C7717-32F7-A145-B5BF-07A0A8BED9F6}"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EC512B-30E5-8746-945A-EBF172CC627F}"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latin typeface="Times New Roman" panose="02020603050405020304" pitchFamily="18" charset="0"/>
                <a:ea typeface="宋体" panose="02010600030101010101" pitchFamily="2" charset="-122"/>
                <a:sym typeface="Times New Roman" panose="02020603050405020304" pitchFamily="18" charset="0"/>
              </a:rPr>
              <a:t>背景</a:t>
            </a:r>
            <a:r>
              <a:rPr lang="zh-CN" altLang="en-US" dirty="0">
                <a:latin typeface="Times New Roman" panose="02020603050405020304" pitchFamily="18" charset="0"/>
                <a:ea typeface="宋体" panose="02010600030101010101" pitchFamily="2" charset="-122"/>
                <a:sym typeface="Times New Roman" panose="02020603050405020304" pitchFamily="18" charset="0"/>
              </a:rPr>
              <a:t>：针对交通预测的独特挑战即</a:t>
            </a:r>
            <a:r>
              <a:rPr lang="zh-CN" altLang="en-US" u="sng" dirty="0">
                <a:latin typeface="Times New Roman" panose="02020603050405020304" pitchFamily="18" charset="0"/>
                <a:ea typeface="宋体" panose="02010600030101010101" pitchFamily="2" charset="-122"/>
                <a:sym typeface="Times New Roman" panose="02020603050405020304" pitchFamily="18" charset="0"/>
              </a:rPr>
              <a:t>复杂的时空依赖性</a:t>
            </a:r>
            <a:r>
              <a:rPr lang="zh-CN" altLang="en-US" dirty="0">
                <a:latin typeface="Times New Roman" panose="02020603050405020304" pitchFamily="18" charset="0"/>
                <a:ea typeface="宋体" panose="02010600030101010101" pitchFamily="2" charset="-122"/>
                <a:sym typeface="Times New Roman" panose="02020603050405020304" pitchFamily="18" charset="0"/>
              </a:rPr>
              <a:t>（对道路网络的复杂空间依赖性和随道路条件变化的非线性时间动态）和</a:t>
            </a:r>
            <a:r>
              <a:rPr lang="zh-CN" altLang="en-US" u="sng" dirty="0">
                <a:latin typeface="Times New Roman" panose="02020603050405020304" pitchFamily="18" charset="0"/>
                <a:ea typeface="宋体" panose="02010600030101010101" pitchFamily="2" charset="-122"/>
                <a:sym typeface="Times New Roman" panose="02020603050405020304" pitchFamily="18" charset="0"/>
              </a:rPr>
              <a:t>长期预测的固有困难</a:t>
            </a:r>
            <a:r>
              <a:rPr lang="zh-CN" altLang="en-US" dirty="0">
                <a:latin typeface="Times New Roman" panose="02020603050405020304" pitchFamily="18" charset="0"/>
                <a:ea typeface="宋体" panose="02010600030101010101" pitchFamily="2" charset="-122"/>
                <a:sym typeface="Times New Roman" panose="02020603050405020304" pitchFamily="18" charset="0"/>
              </a:rPr>
              <a:t>（高峰时间或事故等可能会导致非平稳性）</a:t>
            </a:r>
            <a:endParaRPr lang="en-US" altLang="zh-CN" dirty="0">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latin typeface="Times New Roman" panose="02020603050405020304" pitchFamily="18" charset="0"/>
                <a:ea typeface="宋体" panose="02010600030101010101" pitchFamily="2" charset="-122"/>
                <a:sym typeface="Times New Roman" panose="02020603050405020304" pitchFamily="18" charset="0"/>
              </a:rPr>
              <a:t>DCRNN</a:t>
            </a:r>
            <a:r>
              <a:rPr lang="zh-CN" altLang="en-US" dirty="0">
                <a:latin typeface="Times New Roman" panose="02020603050405020304" pitchFamily="18" charset="0"/>
                <a:ea typeface="宋体" panose="02010600030101010101" pitchFamily="2" charset="-122"/>
                <a:sym typeface="Times New Roman" panose="02020603050405020304" pitchFamily="18" charset="0"/>
              </a:rPr>
              <a:t>模型将交通流建模为有向图上的扩散过程</a:t>
            </a:r>
            <a:endParaRPr lang="en-US" altLang="zh-CN" dirty="0">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latin typeface="Times New Roman" panose="02020603050405020304" pitchFamily="18" charset="0"/>
                <a:ea typeface="宋体" panose="02010600030101010101" pitchFamily="2" charset="-122"/>
                <a:sym typeface="Times New Roman" panose="02020603050405020304" pitchFamily="18" charset="0"/>
              </a:rPr>
              <a:t>整体架构</a:t>
            </a:r>
            <a:r>
              <a:rPr lang="zh-CN" altLang="en-US" dirty="0">
                <a:latin typeface="Times New Roman" panose="02020603050405020304" pitchFamily="18" charset="0"/>
                <a:ea typeface="宋体" panose="02010600030101010101" pitchFamily="2" charset="-122"/>
                <a:sym typeface="Times New Roman" panose="02020603050405020304" pitchFamily="18" charset="0"/>
              </a:rPr>
              <a:t>：由编码器和解码器组成，二者均由多层扩散卷积门控循环单元</a:t>
            </a:r>
            <a:r>
              <a:rPr lang="en-US" altLang="zh-CN" dirty="0">
                <a:latin typeface="Times New Roman" panose="02020603050405020304" pitchFamily="18" charset="0"/>
                <a:ea typeface="宋体" panose="02010600030101010101" pitchFamily="2" charset="-122"/>
                <a:sym typeface="Times New Roman" panose="02020603050405020304" pitchFamily="18" charset="0"/>
              </a:rPr>
              <a:t>DCGRU</a:t>
            </a:r>
            <a:r>
              <a:rPr lang="zh-CN" altLang="en-US" dirty="0">
                <a:latin typeface="Times New Roman" panose="02020603050405020304" pitchFamily="18" charset="0"/>
                <a:ea typeface="宋体" panose="02010600030101010101" pitchFamily="2" charset="-122"/>
                <a:sym typeface="Times New Roman" panose="02020603050405020304" pitchFamily="18" charset="0"/>
              </a:rPr>
              <a:t>组成。编码器将历史交通流量序列编码为隐藏状态，解码器将隐藏状态解码为未来交通流量序列。</a:t>
            </a:r>
            <a:endParaRPr lang="en-US" altLang="zh-CN" dirty="0">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latin typeface="Times New Roman" panose="02020603050405020304" pitchFamily="18" charset="0"/>
              <a:ea typeface="宋体" panose="02010600030101010101" pitchFamily="2" charset="-122"/>
              <a:sym typeface="Times New Roman" panose="02020603050405020304" pitchFamily="18" charset="0"/>
            </a:endParaRPr>
          </a:p>
          <a:p>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latin typeface="Times New Roman" panose="02020603050405020304" pitchFamily="18" charset="0"/>
              <a:ea typeface="宋体" panose="02010600030101010101" pitchFamily="2" charset="-122"/>
              <a:sym typeface="Times New Roman" panose="02020603050405020304" pitchFamily="18" charset="0"/>
            </a:endParaRPr>
          </a:p>
          <a:p>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latin typeface="Times New Roman" panose="02020603050405020304" pitchFamily="18" charset="0"/>
              <a:ea typeface="宋体" panose="02010600030101010101" pitchFamily="2" charset="-122"/>
              <a:sym typeface="Times New Roman" panose="02020603050405020304" pitchFamily="18" charset="0"/>
            </a:endParaRPr>
          </a:p>
          <a:p>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latin typeface="Times New Roman" panose="02020603050405020304" pitchFamily="18" charset="0"/>
              <a:ea typeface="宋体" panose="02010600030101010101" pitchFamily="2" charset="-122"/>
              <a:sym typeface="Times New Roman" panose="02020603050405020304" pitchFamily="18" charset="0"/>
            </a:endParaRPr>
          </a:p>
          <a:p>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charset="-122"/>
              <a:cs typeface="Arial" panose="020B0604020202020204" pitchFamily="34" charset="0"/>
            </a:endParaRPr>
          </a:p>
        </p:txBody>
      </p:sp>
      <p:sp>
        <p:nvSpPr>
          <p:cNvPr id="4" name="灯片编号占位符 3"/>
          <p:cNvSpPr>
            <a:spLocks noGrp="1"/>
          </p:cNvSpPr>
          <p:nvPr>
            <p:ph type="sldNum" sz="quarter" idx="5"/>
          </p:nvPr>
        </p:nvSpPr>
        <p:spPr/>
        <p:txBody>
          <a:bodyPr/>
          <a:lstStyle/>
          <a:p>
            <a:fld id="{3D0DA2A2-8270-4ED5-BF5C-C8E0B3242FE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41A110E-6581-E948-8996-E42461948D19}"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1A110E-6581-E948-8996-E42461948D1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2A7517-6485-A249-8247-44EA6238FE3A}"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1A110E-6581-E948-8996-E42461948D1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8.xml"/><Relationship Id="rId2" Type="http://schemas.openxmlformats.org/officeDocument/2006/relationships/image" Target="../media/image10.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1928399"/>
            <a:ext cx="12192000" cy="3090792"/>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17" name="文本框 16"/>
          <p:cNvSpPr txBox="1"/>
          <p:nvPr/>
        </p:nvSpPr>
        <p:spPr>
          <a:xfrm>
            <a:off x="2348230" y="2306955"/>
            <a:ext cx="9641205" cy="1922780"/>
          </a:xfrm>
          <a:prstGeom prst="rect">
            <a:avLst/>
          </a:prstGeom>
          <a:noFill/>
        </p:spPr>
        <p:txBody>
          <a:bodyPr wrap="square" rtlCol="0">
            <a:noAutofit/>
          </a:bodyPr>
          <a:lstStyle/>
          <a:p>
            <a:pPr marL="0" marR="0" lvl="0" indent="0" defTabSz="914400" rtl="0" eaLnBrk="1" fontAlgn="auto" latinLnBrk="0" hangingPunct="1">
              <a:lnSpc>
                <a:spcPct val="11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KnowMTP: A Knowledge-Guided Framework for Multi-Agent Trajectory Prediction in Autonomous Driving</a:t>
            </a:r>
            <a:endParaRPr kumimoji="0" lang="zh-CN"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a:p>
            <a:pPr marL="0" marR="0" lvl="0" indent="0" defTabSz="914400" rtl="0" eaLnBrk="1" fontAlgn="auto" latinLnBrk="0" hangingPunct="1">
              <a:lnSpc>
                <a:spcPct val="11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KnowMTP：</a:t>
            </a:r>
            <a:r>
              <a:rPr kumimoji="0" lang="zh-CN"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面向自动驾驶的知识引导多智能体轨迹预测框架</a:t>
            </a:r>
            <a:endParaRPr kumimoji="0" lang="zh-CN" altLang="en-US" sz="24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 name="图形 3"/>
          <p:cNvPicPr>
            <a:picLocks noChangeAspect="1"/>
          </p:cNvPicPr>
          <p:nvPr/>
        </p:nvPicPr>
        <p:blipFill rotWithShape="1">
          <a:blip r:embed="rId1"/>
          <a:srcRect l="1" r="64469"/>
          <a:stretch>
            <a:fillRect/>
          </a:stretch>
        </p:blipFill>
        <p:spPr>
          <a:xfrm>
            <a:off x="744400" y="2850459"/>
            <a:ext cx="1441854" cy="1404036"/>
          </a:xfrm>
          <a:prstGeom prst="rect">
            <a:avLst/>
          </a:prstGeom>
          <a:effectLst>
            <a:glow rad="12700">
              <a:schemeClr val="bg1">
                <a:alpha val="41000"/>
              </a:schemeClr>
            </a:glow>
          </a:effectLst>
        </p:spPr>
      </p:pic>
      <p:pic>
        <p:nvPicPr>
          <p:cNvPr id="5" name="图形 4"/>
          <p:cNvPicPr>
            <a:picLocks noChangeAspect="1"/>
          </p:cNvPicPr>
          <p:nvPr/>
        </p:nvPicPr>
        <p:blipFill>
          <a:blip r:embed="rId2"/>
          <a:srcRect/>
          <a:stretch>
            <a:fillRect/>
          </a:stretch>
        </p:blipFill>
        <p:spPr>
          <a:xfrm>
            <a:off x="9708162" y="296744"/>
            <a:ext cx="2140875" cy="741642"/>
          </a:xfrm>
          <a:prstGeom prst="rect">
            <a:avLst/>
          </a:prstGeom>
        </p:spPr>
      </p:pic>
      <p:grpSp>
        <p:nvGrpSpPr>
          <p:cNvPr id="3" name="组合 2"/>
          <p:cNvGrpSpPr/>
          <p:nvPr/>
        </p:nvGrpSpPr>
        <p:grpSpPr>
          <a:xfrm>
            <a:off x="3187173" y="4217447"/>
            <a:ext cx="2204454" cy="499568"/>
            <a:chOff x="3187173" y="4217447"/>
            <a:chExt cx="2204454" cy="499568"/>
          </a:xfrm>
        </p:grpSpPr>
        <p:sp>
          <p:nvSpPr>
            <p:cNvPr id="18" name="矩形: 圆角 17"/>
            <p:cNvSpPr/>
            <p:nvPr/>
          </p:nvSpPr>
          <p:spPr>
            <a:xfrm>
              <a:off x="3187173" y="4217447"/>
              <a:ext cx="2204454" cy="499568"/>
            </a:xfrm>
            <a:prstGeom prst="roundRect">
              <a:avLst>
                <a:gd name="adj" fmla="val 50000"/>
              </a:avLst>
            </a:prstGeom>
            <a:solidFill>
              <a:srgbClr val="141B76">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19" name="文本框 18"/>
            <p:cNvSpPr txBox="1"/>
            <p:nvPr/>
          </p:nvSpPr>
          <p:spPr>
            <a:xfrm>
              <a:off x="3268166" y="4282565"/>
              <a:ext cx="2042467"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汇报人：</a:t>
              </a:r>
              <a:r>
                <a:rPr kumimoji="0" lang="zh-CN" altLang="en-US" sz="180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张志航</a:t>
              </a:r>
              <a:endParaRPr kumimoji="0" lang="zh-CN" altLang="en-US" sz="180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grpSp>
      <p:grpSp>
        <p:nvGrpSpPr>
          <p:cNvPr id="2" name="组合 1"/>
          <p:cNvGrpSpPr/>
          <p:nvPr/>
        </p:nvGrpSpPr>
        <p:grpSpPr>
          <a:xfrm>
            <a:off x="6587359" y="4217447"/>
            <a:ext cx="2204454" cy="499568"/>
            <a:chOff x="7138473" y="4262990"/>
            <a:chExt cx="2204454" cy="499568"/>
          </a:xfrm>
        </p:grpSpPr>
        <p:sp>
          <p:nvSpPr>
            <p:cNvPr id="29" name="矩形: 圆角 17"/>
            <p:cNvSpPr/>
            <p:nvPr/>
          </p:nvSpPr>
          <p:spPr>
            <a:xfrm>
              <a:off x="7138473" y="4262990"/>
              <a:ext cx="2204454" cy="499568"/>
            </a:xfrm>
            <a:prstGeom prst="roundRect">
              <a:avLst>
                <a:gd name="adj" fmla="val 50000"/>
              </a:avLst>
            </a:prstGeom>
            <a:solidFill>
              <a:srgbClr val="141B76">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30" name="文本框 29"/>
            <p:cNvSpPr txBox="1"/>
            <p:nvPr/>
          </p:nvSpPr>
          <p:spPr>
            <a:xfrm>
              <a:off x="7187340" y="4345099"/>
              <a:ext cx="2042467"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2025/8/16</a:t>
              </a:r>
              <a:endParaRPr kumimoji="0" lang="zh-CN" altLang="en-US" sz="180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3" name="矩形 2"/>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0" name="文本框 9"/>
          <p:cNvSpPr txBox="1"/>
          <p:nvPr/>
        </p:nvSpPr>
        <p:spPr>
          <a:xfrm>
            <a:off x="140286" y="535148"/>
            <a:ext cx="6096000" cy="521970"/>
          </a:xfrm>
          <a:prstGeom prst="rect">
            <a:avLst/>
          </a:prstGeom>
          <a:noFill/>
        </p:spPr>
        <p:txBody>
          <a:bodyPr wrap="square">
            <a:spAutoFit/>
          </a:bodyPr>
          <a:lstStyle/>
          <a:p>
            <a:r>
              <a:rPr lang="zh-CN" altLang="en-US" sz="2800" b="1" dirty="0" err="1">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背景</a:t>
            </a:r>
            <a:endParaRPr lang="zh-CN" altLang="en-US" sz="2800" b="1" dirty="0" err="1">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5" name="文本框 4"/>
          <p:cNvSpPr txBox="1"/>
          <p:nvPr/>
        </p:nvSpPr>
        <p:spPr>
          <a:xfrm>
            <a:off x="207010" y="1240155"/>
            <a:ext cx="6802755" cy="5617845"/>
          </a:xfrm>
          <a:prstGeom prst="rect">
            <a:avLst/>
          </a:prstGeom>
          <a:noFill/>
        </p:spPr>
        <p:txBody>
          <a:bodyPr wrap="square" rtlCol="0">
            <a:noAutofit/>
          </a:bodyPr>
          <a:lstStyle/>
          <a:p>
            <a:r>
              <a:rPr lang="zh-CN" altLang="en-US" sz="2000" kern="100" dirty="0">
                <a:effectLst/>
                <a:latin typeface="Times New Roman" panose="02020603050405020304" pitchFamily="18" charset="0"/>
                <a:ea typeface="宋体" panose="02010600030101010101" pitchFamily="2" charset="-122"/>
              </a:rPr>
              <a:t>多智能体轨迹预测（</a:t>
            </a:r>
            <a:r>
              <a:rPr lang="en-US" altLang="zh-CN" sz="2000" kern="100" dirty="0">
                <a:effectLst/>
                <a:latin typeface="Times New Roman" panose="02020603050405020304" pitchFamily="18" charset="0"/>
                <a:ea typeface="宋体" panose="02010600030101010101" pitchFamily="2" charset="-122"/>
              </a:rPr>
              <a:t>MTP）</a:t>
            </a:r>
            <a:r>
              <a:rPr lang="zh-CN" altLang="en-US" sz="2000" kern="100" dirty="0">
                <a:effectLst/>
                <a:latin typeface="Times New Roman" panose="02020603050405020304" pitchFamily="18" charset="0"/>
                <a:ea typeface="宋体" panose="02010600030101010101" pitchFamily="2" charset="-122"/>
              </a:rPr>
              <a:t>对自动驾驶系统至关重要 ，它能够使车辆预测周边交通参与者（其他车辆、行人等）的未来运动状态。在变道 、超车、避障等动态驾驶场景中，精准预测车辆、行人及其他参与者的轨迹，是规划安全、平稳行驶动作的基础。</a:t>
            </a:r>
            <a:endParaRPr lang="zh-CN" altLang="en-US" sz="2000" kern="100" dirty="0">
              <a:effectLst/>
              <a:latin typeface="Times New Roman" panose="02020603050405020304" pitchFamily="18" charset="0"/>
              <a:ea typeface="宋体" panose="02010600030101010101" pitchFamily="2" charset="-122"/>
            </a:endParaRPr>
          </a:p>
          <a:p>
            <a:r>
              <a:rPr lang="zh-CN" altLang="en-US" sz="2000" kern="100" dirty="0">
                <a:effectLst/>
                <a:latin typeface="Times New Roman" panose="02020603050405020304" pitchFamily="18" charset="0"/>
                <a:ea typeface="宋体" panose="02010600030101010101" pitchFamily="2" charset="-122"/>
              </a:rPr>
              <a:t>现有的主流的预测方法</a:t>
            </a:r>
            <a:r>
              <a:rPr lang="en-US" altLang="zh-CN" sz="2000" kern="100" dirty="0">
                <a:effectLst/>
                <a:latin typeface="Times New Roman" panose="02020603050405020304" pitchFamily="18" charset="0"/>
                <a:ea typeface="宋体" panose="02010600030101010101" pitchFamily="2" charset="-122"/>
              </a:rPr>
              <a:t>encoder-decoder</a:t>
            </a:r>
            <a:r>
              <a:rPr lang="zh-CN" altLang="en-US" sz="2000" kern="100" dirty="0">
                <a:effectLst/>
                <a:latin typeface="Times New Roman" panose="02020603050405020304" pitchFamily="18" charset="0"/>
                <a:ea typeface="宋体" panose="02010600030101010101" pitchFamily="2" charset="-122"/>
              </a:rPr>
              <a:t>架构。模型将历史轨迹与场景背景一起编码，然后将其解码为预测的未来轨迹。</a:t>
            </a:r>
            <a:endParaRPr lang="zh-CN" altLang="en-US" sz="2000" kern="100" dirty="0">
              <a:effectLst/>
              <a:latin typeface="Times New Roman" panose="02020603050405020304" pitchFamily="18" charset="0"/>
              <a:ea typeface="宋体" panose="02010600030101010101" pitchFamily="2" charset="-122"/>
            </a:endParaRPr>
          </a:p>
          <a:p>
            <a:endParaRPr lang="zh-CN" altLang="en-US" sz="2000" kern="100" dirty="0">
              <a:effectLst/>
              <a:latin typeface="Times New Roman" panose="02020603050405020304" pitchFamily="18" charset="0"/>
              <a:ea typeface="宋体" panose="02010600030101010101" pitchFamily="2" charset="-122"/>
            </a:endParaRPr>
          </a:p>
          <a:p>
            <a:endParaRPr lang="zh-CN" altLang="en-US" sz="2000" kern="100" dirty="0">
              <a:effectLst/>
              <a:latin typeface="Times New Roman" panose="02020603050405020304" pitchFamily="18" charset="0"/>
              <a:ea typeface="宋体" panose="02010600030101010101" pitchFamily="2" charset="-122"/>
            </a:endParaRPr>
          </a:p>
          <a:p>
            <a:endParaRPr lang="zh-CN" altLang="en-US" sz="2000" kern="100" dirty="0">
              <a:effectLst/>
              <a:latin typeface="Times New Roman" panose="02020603050405020304" pitchFamily="18" charset="0"/>
              <a:ea typeface="宋体" panose="02010600030101010101" pitchFamily="2" charset="-122"/>
            </a:endParaRPr>
          </a:p>
          <a:p>
            <a:r>
              <a:rPr lang="zh-CN" altLang="en-US" sz="2000" kern="100" dirty="0">
                <a:effectLst/>
                <a:latin typeface="Times New Roman" panose="02020603050405020304" pitchFamily="18" charset="0"/>
                <a:ea typeface="宋体" panose="02010600030101010101" pitchFamily="2" charset="-122"/>
              </a:rPr>
              <a:t>缺陷</a:t>
            </a:r>
            <a:r>
              <a:rPr lang="en-US" altLang="zh-CN" sz="2000" kern="100" dirty="0">
                <a:effectLst/>
                <a:latin typeface="Times New Roman" panose="02020603050405020304" pitchFamily="18" charset="0"/>
                <a:ea typeface="宋体" panose="02010600030101010101" pitchFamily="2" charset="-122"/>
              </a:rPr>
              <a:t>1</a:t>
            </a:r>
            <a:r>
              <a:rPr lang="zh-CN" altLang="en-US" sz="2000" kern="100" dirty="0">
                <a:effectLst/>
                <a:latin typeface="Times New Roman" panose="02020603050405020304" pitchFamily="18" charset="0"/>
                <a:ea typeface="宋体" panose="02010600030101010101" pitchFamily="2" charset="-122"/>
              </a:rPr>
              <a:t>：纯数据驱动，同等对待所有周边车辆，无关 </a:t>
            </a:r>
            <a:r>
              <a:rPr lang="en-US" altLang="zh-CN" sz="2000" kern="100" dirty="0">
                <a:effectLst/>
                <a:latin typeface="Times New Roman" panose="02020603050405020304" pitchFamily="18" charset="0"/>
                <a:ea typeface="宋体" panose="02010600030101010101" pitchFamily="2" charset="-122"/>
              </a:rPr>
              <a:t>agent </a:t>
            </a:r>
            <a:r>
              <a:rPr lang="zh-CN" altLang="en-US" sz="2000" kern="100" dirty="0">
                <a:effectLst/>
                <a:latin typeface="Times New Roman" panose="02020603050405020304" pitchFamily="18" charset="0"/>
                <a:ea typeface="宋体" panose="02010600030101010101" pitchFamily="2" charset="-122"/>
              </a:rPr>
              <a:t>引入大量噪声，模型复杂度高</a:t>
            </a:r>
            <a:endParaRPr lang="zh-CN" altLang="en-US" sz="2000" kern="100" dirty="0">
              <a:effectLst/>
              <a:latin typeface="Times New Roman" panose="02020603050405020304" pitchFamily="18" charset="0"/>
              <a:ea typeface="宋体" panose="02010600030101010101" pitchFamily="2" charset="-122"/>
            </a:endParaRPr>
          </a:p>
          <a:p>
            <a:r>
              <a:rPr lang="zh-CN" altLang="en-US" sz="2000" kern="100" dirty="0">
                <a:effectLst/>
                <a:latin typeface="Times New Roman" panose="02020603050405020304" pitchFamily="18" charset="0"/>
                <a:ea typeface="宋体" panose="02010600030101010101" pitchFamily="2" charset="-122"/>
              </a:rPr>
              <a:t>缺陷</a:t>
            </a:r>
            <a:r>
              <a:rPr lang="en-US" altLang="zh-CN" sz="2000" kern="100" dirty="0">
                <a:effectLst/>
                <a:latin typeface="Times New Roman" panose="02020603050405020304" pitchFamily="18" charset="0"/>
                <a:ea typeface="宋体" panose="02010600030101010101" pitchFamily="2" charset="-122"/>
              </a:rPr>
              <a:t>2</a:t>
            </a:r>
            <a:r>
              <a:rPr lang="zh-CN" altLang="en-US" sz="2000" kern="100" dirty="0">
                <a:effectLst/>
                <a:latin typeface="Times New Roman" panose="02020603050405020304" pitchFamily="18" charset="0"/>
                <a:ea typeface="宋体" panose="02010600030101010101" pitchFamily="2" charset="-122"/>
              </a:rPr>
              <a:t>：潜在的关键交互缺乏显式优先级划分，纯数据驱动模型有时会产生不真实或违背物理安全常识的预测轨迹</a:t>
            </a:r>
            <a:endParaRPr lang="zh-CN" altLang="en-US" sz="2000" kern="100" dirty="0">
              <a:effectLst/>
              <a:latin typeface="Times New Roman" panose="02020603050405020304" pitchFamily="18" charset="0"/>
              <a:ea typeface="宋体" panose="02010600030101010101" pitchFamily="2" charset="-122"/>
            </a:endParaRPr>
          </a:p>
          <a:p>
            <a:endParaRPr lang="zh-CN" altLang="en-US" sz="2000" kern="100" dirty="0">
              <a:effectLst/>
              <a:latin typeface="Times New Roman" panose="02020603050405020304" pitchFamily="18" charset="0"/>
              <a:ea typeface="宋体" panose="02010600030101010101" pitchFamily="2" charset="-122"/>
            </a:endParaRPr>
          </a:p>
          <a:p>
            <a:endParaRPr lang="zh-CN" altLang="en-US" sz="2000" kern="100" dirty="0">
              <a:effectLst/>
              <a:latin typeface="Times New Roman" panose="02020603050405020304" pitchFamily="18" charset="0"/>
              <a:ea typeface="宋体" panose="02010600030101010101" pitchFamily="2" charset="-122"/>
            </a:endParaRPr>
          </a:p>
          <a:p>
            <a:r>
              <a:rPr lang="zh-CN" altLang="en-US" sz="2000" kern="100" dirty="0">
                <a:effectLst/>
                <a:latin typeface="Times New Roman" panose="02020603050405020304" pitchFamily="18" charset="0"/>
                <a:ea typeface="宋体" panose="02010600030101010101" pitchFamily="2" charset="-122"/>
                <a:sym typeface="+mn-ea"/>
              </a:rPr>
              <a:t>为此，本文提出 </a:t>
            </a:r>
            <a:r>
              <a:rPr lang="en-US" altLang="zh-CN" sz="2000" kern="100" dirty="0">
                <a:effectLst/>
                <a:latin typeface="Times New Roman" panose="02020603050405020304" pitchFamily="18" charset="0"/>
                <a:ea typeface="宋体" panose="02010600030101010101" pitchFamily="2" charset="-122"/>
                <a:sym typeface="+mn-ea"/>
              </a:rPr>
              <a:t>KnowMTP</a:t>
            </a:r>
            <a:r>
              <a:rPr lang="zh-CN" altLang="en-US" sz="2000" kern="100" dirty="0">
                <a:effectLst/>
                <a:latin typeface="Times New Roman" panose="02020603050405020304" pitchFamily="18" charset="0"/>
                <a:ea typeface="宋体" panose="02010600030101010101" pitchFamily="2" charset="-122"/>
                <a:sym typeface="+mn-ea"/>
              </a:rPr>
              <a:t>框架。</a:t>
            </a:r>
            <a:endParaRPr lang="zh-CN" altLang="en-US" sz="2000" kern="100" dirty="0">
              <a:effectLst/>
              <a:latin typeface="Times New Roman" panose="02020603050405020304" pitchFamily="18" charset="0"/>
              <a:ea typeface="宋体" panose="02010600030101010101" pitchFamily="2" charset="-122"/>
            </a:endParaRPr>
          </a:p>
          <a:p>
            <a:endParaRPr lang="zh-CN" altLang="en-US" sz="2000" kern="100" dirty="0">
              <a:effectLst/>
              <a:latin typeface="Times New Roman" panose="02020603050405020304" pitchFamily="18" charset="0"/>
              <a:ea typeface="宋体" panose="02010600030101010101" pitchFamily="2" charset="-122"/>
            </a:endParaRPr>
          </a:p>
          <a:p>
            <a:endParaRPr lang="zh-CN" altLang="en-US" sz="2000" kern="100" dirty="0">
              <a:effectLst/>
              <a:latin typeface="Times New Roman" panose="02020603050405020304" pitchFamily="18" charset="0"/>
              <a:ea typeface="宋体" panose="02010600030101010101" pitchFamily="2" charset="-122"/>
            </a:endParaRPr>
          </a:p>
        </p:txBody>
      </p:sp>
      <p:sp>
        <p:nvSpPr>
          <p:cNvPr id="11" name="文本框 10"/>
          <p:cNvSpPr txBox="1"/>
          <p:nvPr/>
        </p:nvSpPr>
        <p:spPr>
          <a:xfrm>
            <a:off x="594360" y="5592445"/>
            <a:ext cx="11003280" cy="512445"/>
          </a:xfrm>
          <a:prstGeom prst="rect">
            <a:avLst/>
          </a:prstGeom>
          <a:noFill/>
        </p:spPr>
        <p:txBody>
          <a:bodyPr wrap="square" rtlCol="0">
            <a:noAutofit/>
          </a:bodyPr>
          <a:p>
            <a:endParaRPr lang="zh-CN" altLang="en-US"/>
          </a:p>
        </p:txBody>
      </p:sp>
      <p:sp>
        <p:nvSpPr>
          <p:cNvPr id="7" name="文本框 6"/>
          <p:cNvSpPr txBox="1"/>
          <p:nvPr/>
        </p:nvSpPr>
        <p:spPr>
          <a:xfrm>
            <a:off x="6454140" y="5431155"/>
            <a:ext cx="4064000" cy="368300"/>
          </a:xfrm>
          <a:prstGeom prst="rect">
            <a:avLst/>
          </a:prstGeom>
          <a:noFill/>
        </p:spPr>
        <p:txBody>
          <a:bodyPr wrap="square" rtlCol="0">
            <a:spAutoFit/>
          </a:bodyPr>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3" name="矩形 2"/>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0" name="文本框 9"/>
          <p:cNvSpPr txBox="1"/>
          <p:nvPr/>
        </p:nvSpPr>
        <p:spPr>
          <a:xfrm>
            <a:off x="140286" y="535148"/>
            <a:ext cx="6096000" cy="521970"/>
          </a:xfrm>
          <a:prstGeom prst="rect">
            <a:avLst/>
          </a:prstGeom>
          <a:noFill/>
        </p:spPr>
        <p:txBody>
          <a:bodyPr wrap="square">
            <a:spAutoFit/>
          </a:bodyPr>
          <a:lstStyle/>
          <a:p>
            <a:r>
              <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总体架构</a:t>
            </a:r>
            <a:endPar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5" name="文本框 4"/>
          <p:cNvSpPr txBox="1"/>
          <p:nvPr/>
        </p:nvSpPr>
        <p:spPr>
          <a:xfrm>
            <a:off x="207010" y="1240155"/>
            <a:ext cx="11390630" cy="1407795"/>
          </a:xfrm>
          <a:prstGeom prst="rect">
            <a:avLst/>
          </a:prstGeom>
          <a:noFill/>
        </p:spPr>
        <p:txBody>
          <a:bodyPr wrap="square" rtlCol="0">
            <a:noAutofit/>
          </a:bodyPr>
          <a:lstStyle/>
          <a:p>
            <a:r>
              <a:rPr lang="en-US" altLang="zh-CN" sz="1800" kern="100" dirty="0">
                <a:effectLst/>
                <a:latin typeface="Times New Roman" panose="02020603050405020304" pitchFamily="18" charset="0"/>
                <a:ea typeface="宋体" panose="02010600030101010101" pitchFamily="2" charset="-122"/>
              </a:rPr>
              <a:t>KnowMTP</a:t>
            </a:r>
            <a:r>
              <a:rPr lang="zh-CN" altLang="en-US" sz="1800" kern="100" dirty="0">
                <a:effectLst/>
                <a:latin typeface="Times New Roman" panose="02020603050405020304" pitchFamily="18" charset="0"/>
                <a:ea typeface="宋体" panose="02010600030101010101" pitchFamily="2" charset="-122"/>
              </a:rPr>
              <a:t>从数据预处理阶段切入，利用领域知识进行输入重组。它通过两个显式的智能体选择器对输入节点进行过滤，将最符合运动相似和安全风险特征的少数邻近车辆送入预测大模型。</a:t>
            </a:r>
            <a:endParaRPr lang="zh-CN" altLang="en-US" sz="1800" kern="100" dirty="0">
              <a:effectLst/>
              <a:latin typeface="Times New Roman" panose="02020603050405020304" pitchFamily="18" charset="0"/>
              <a:ea typeface="宋体" panose="02010600030101010101" pitchFamily="2" charset="-122"/>
            </a:endParaRPr>
          </a:p>
        </p:txBody>
      </p:sp>
      <p:sp>
        <p:nvSpPr>
          <p:cNvPr id="11" name="文本框 10"/>
          <p:cNvSpPr txBox="1"/>
          <p:nvPr/>
        </p:nvSpPr>
        <p:spPr>
          <a:xfrm>
            <a:off x="594360" y="5592445"/>
            <a:ext cx="11003280" cy="512445"/>
          </a:xfrm>
          <a:prstGeom prst="rect">
            <a:avLst/>
          </a:prstGeom>
          <a:noFill/>
        </p:spPr>
        <p:txBody>
          <a:bodyPr wrap="square" rtlCol="0">
            <a:noAutofit/>
          </a:bodyPr>
          <a:p>
            <a:endParaRPr lang="zh-CN" altLang="en-US"/>
          </a:p>
        </p:txBody>
      </p:sp>
      <p:pic>
        <p:nvPicPr>
          <p:cNvPr id="4" name="图片 3"/>
          <p:cNvPicPr>
            <a:picLocks noChangeAspect="1"/>
          </p:cNvPicPr>
          <p:nvPr/>
        </p:nvPicPr>
        <p:blipFill>
          <a:blip r:embed="rId2"/>
          <a:stretch>
            <a:fillRect/>
          </a:stretch>
        </p:blipFill>
        <p:spPr>
          <a:xfrm>
            <a:off x="594360" y="2202815"/>
            <a:ext cx="7654290" cy="3836035"/>
          </a:xfrm>
          <a:prstGeom prst="rect">
            <a:avLst/>
          </a:prstGeom>
        </p:spPr>
      </p:pic>
      <p:sp>
        <p:nvSpPr>
          <p:cNvPr id="13" name="文本框 12"/>
          <p:cNvSpPr txBox="1"/>
          <p:nvPr/>
        </p:nvSpPr>
        <p:spPr>
          <a:xfrm>
            <a:off x="240665" y="6000115"/>
            <a:ext cx="11685270" cy="368300"/>
          </a:xfrm>
          <a:prstGeom prst="rect">
            <a:avLst/>
          </a:prstGeom>
          <a:noFill/>
        </p:spPr>
        <p:txBody>
          <a:bodyPr wrap="square" rtlCol="0">
            <a:spAutoFit/>
          </a:bodyPr>
          <a:p>
            <a:r>
              <a:rPr lang="zh-CN" altLang="en-US"/>
              <a:t>这些过滤器的设计理念基于影响目标</a:t>
            </a:r>
            <a:r>
              <a:rPr lang="zh-CN" altLang="en-US"/>
              <a:t>智能体行为的两个关键因素：运动相似性和安全临界性。</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4" name="矩形 3"/>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err="1">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运动相似性</a:t>
            </a:r>
            <a:endParaRPr kumimoji="1" lang="zh-CN" altLang="en-US">
              <a:latin typeface="Times New Roman" panose="02020603050405020304" pitchFamily="18" charset="0"/>
              <a:ea typeface="宋体" panose="02010600030101010101" pitchFamily="2" charset="-122"/>
              <a:sym typeface="Times New Roman" panose="02020603050405020304" pitchFamily="18" charset="0"/>
            </a:endParaRPr>
          </a:p>
        </p:txBody>
      </p:sp>
      <p:sp>
        <p:nvSpPr>
          <p:cNvPr id="5" name="文本框 4"/>
          <p:cNvSpPr txBox="1"/>
          <p:nvPr/>
        </p:nvSpPr>
        <p:spPr>
          <a:xfrm>
            <a:off x="210185" y="1326515"/>
            <a:ext cx="5261610" cy="4672965"/>
          </a:xfrm>
          <a:prstGeom prst="rect">
            <a:avLst/>
          </a:prstGeom>
          <a:noFill/>
        </p:spPr>
        <p:txBody>
          <a:bodyPr wrap="square" rtlCol="0">
            <a:noAutofit/>
          </a:bodyPr>
          <a:p>
            <a:r>
              <a:rPr lang="zh-CN" altLang="en-US"/>
              <a:t>运动相似智能体过滤器的设计是基于运动相似</a:t>
            </a:r>
            <a:r>
              <a:rPr lang="zh-CN" altLang="en-US"/>
              <a:t>性来识别与目标智能体最相关的附近智能体，从而为预测目标的未来轨迹提供有价值的上下文信息。表现出与目标相似的运动模式的</a:t>
            </a:r>
            <a:r>
              <a:rPr lang="zh-CN" altLang="en-US"/>
              <a:t>智能体更有可能施加影响，因为他们往往具有相似的驾驶意图和行为</a:t>
            </a:r>
            <a:endParaRPr lang="zh-CN" altLang="en-US"/>
          </a:p>
          <a:p>
            <a:endParaRPr lang="zh-CN" altLang="en-US"/>
          </a:p>
          <a:p>
            <a:endParaRPr lang="zh-CN" altLang="en-US"/>
          </a:p>
          <a:p>
            <a:endParaRPr lang="zh-CN" altLang="en-US"/>
          </a:p>
          <a:p>
            <a:endParaRPr lang="zh-CN" altLang="en-US"/>
          </a:p>
          <a:p>
            <a:endParaRPr lang="zh-CN" altLang="en-US"/>
          </a:p>
          <a:p>
            <a:r>
              <a:rPr lang="zh-CN" altLang="en-US"/>
              <a:t>将运动相似智能体定义为与目标智能体表现出最高运动相似性的智能体，并将它们用作编码器的输入 计算目标智能体及其邻近智能体的历史状态之间的相似性得分，保留前</a:t>
            </a:r>
            <a:r>
              <a:rPr lang="en-US" altLang="zh-CN"/>
              <a:t>topk</a:t>
            </a:r>
            <a:r>
              <a:rPr lang="zh-CN" altLang="en-US"/>
              <a:t>最相似的</a:t>
            </a:r>
            <a:r>
              <a:rPr lang="zh-CN" altLang="en-US"/>
              <a:t>智能体</a:t>
            </a:r>
            <a:endParaRPr lang="zh-CN" altLang="en-US"/>
          </a:p>
        </p:txBody>
      </p:sp>
      <p:pic>
        <p:nvPicPr>
          <p:cNvPr id="7" name="图片 6"/>
          <p:cNvPicPr>
            <a:picLocks noChangeAspect="1"/>
          </p:cNvPicPr>
          <p:nvPr/>
        </p:nvPicPr>
        <p:blipFill>
          <a:blip r:embed="rId2"/>
          <a:stretch>
            <a:fillRect/>
          </a:stretch>
        </p:blipFill>
        <p:spPr>
          <a:xfrm>
            <a:off x="6226810" y="1249680"/>
            <a:ext cx="5109845" cy="2680335"/>
          </a:xfrm>
          <a:prstGeom prst="rect">
            <a:avLst/>
          </a:prstGeom>
        </p:spPr>
      </p:pic>
      <p:pic>
        <p:nvPicPr>
          <p:cNvPr id="3" name="图片 2"/>
          <p:cNvPicPr>
            <a:picLocks noChangeAspect="1"/>
          </p:cNvPicPr>
          <p:nvPr/>
        </p:nvPicPr>
        <p:blipFill>
          <a:blip r:embed="rId3"/>
          <a:stretch>
            <a:fillRect/>
          </a:stretch>
        </p:blipFill>
        <p:spPr>
          <a:xfrm>
            <a:off x="6555740" y="3930015"/>
            <a:ext cx="4286250" cy="26022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4" name="文本框 3"/>
          <p:cNvSpPr txBox="1"/>
          <p:nvPr/>
        </p:nvSpPr>
        <p:spPr>
          <a:xfrm>
            <a:off x="308610" y="1218565"/>
            <a:ext cx="11146155" cy="645160"/>
          </a:xfrm>
          <a:prstGeom prst="rect">
            <a:avLst/>
          </a:prstGeom>
          <a:noFill/>
        </p:spPr>
        <p:txBody>
          <a:bodyPr wrap="square" rtlCol="0">
            <a:spAutoFit/>
          </a:bodyPr>
          <a:p>
            <a:endParaRPr lang="zh-CN" altLang="en-US"/>
          </a:p>
          <a:p>
            <a:endParaRPr lang="zh-CN" altLang="en-US"/>
          </a:p>
        </p:txBody>
      </p:sp>
      <p:sp>
        <p:nvSpPr>
          <p:cNvPr id="46" name="Rectangle 46"/>
          <p:cNvSpPr/>
          <p:nvPr/>
        </p:nvSpPr>
        <p:spPr>
          <a:xfrm>
            <a:off x="210185" y="5172075"/>
            <a:ext cx="11049000" cy="952500"/>
          </a:xfrm>
          <a:prstGeom prst="roundRect">
            <a:avLst>
              <a:gd name="adj" fmla="val 10000"/>
            </a:avLst>
          </a:prstGeom>
          <a:solidFill>
            <a:srgbClr val="FFFFFF"/>
          </a:solidFill>
          <a:ln>
            <a:noFill/>
          </a:ln>
        </p:spPr>
        <p:txBody>
          <a:bodyPr/>
          <a:p>
            <a:pPr algn="l"/>
            <a:endParaRPr lang="zh-CN" altLang="en-US"/>
          </a:p>
        </p:txBody>
      </p:sp>
      <p:sp>
        <p:nvSpPr>
          <p:cNvPr id="5" name="矩形 4"/>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安全关键性</a:t>
            </a:r>
            <a:endParaRPr kumimoji="1" lang="zh-CN" altLang="en-US">
              <a:latin typeface="Times New Roman" panose="02020603050405020304" pitchFamily="18" charset="0"/>
              <a:ea typeface="宋体" panose="02010600030101010101" pitchFamily="2" charset="-122"/>
              <a:sym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6795770" y="1628775"/>
            <a:ext cx="4846320" cy="3703955"/>
          </a:xfrm>
          <a:prstGeom prst="rect">
            <a:avLst/>
          </a:prstGeom>
        </p:spPr>
      </p:pic>
      <p:sp>
        <p:nvSpPr>
          <p:cNvPr id="9" name="文本框 8"/>
          <p:cNvSpPr txBox="1"/>
          <p:nvPr/>
        </p:nvSpPr>
        <p:spPr>
          <a:xfrm>
            <a:off x="481965" y="1270635"/>
            <a:ext cx="6313805" cy="3969385"/>
          </a:xfrm>
          <a:prstGeom prst="rect">
            <a:avLst/>
          </a:prstGeom>
          <a:noFill/>
        </p:spPr>
        <p:txBody>
          <a:bodyPr wrap="square" rtlCol="0">
            <a:spAutoFit/>
          </a:bodyPr>
          <a:p>
            <a:r>
              <a:rPr lang="zh-CN" altLang="en-US"/>
              <a:t>出于驾驶安全考量，目标智能体未来的行驶动作同样会受到邻近智能体行为的约束。具备相近感知安全水平的智能体更容易相互影响行为，模型应当优先关注这类智能体</a:t>
            </a:r>
            <a:endParaRPr lang="zh-CN" altLang="en-US"/>
          </a:p>
          <a:p>
            <a:endParaRPr lang="zh-CN" altLang="en-US"/>
          </a:p>
          <a:p>
            <a:endParaRPr lang="zh-CN" altLang="en-US"/>
          </a:p>
          <a:p>
            <a:r>
              <a:rPr lang="zh-CN" altLang="en-US"/>
              <a:t>模型引入并改进了经典的碰撞时间（</a:t>
            </a:r>
            <a:r>
              <a:rPr lang="en-US" altLang="zh-CN"/>
              <a:t>TTC）、</a:t>
            </a:r>
            <a:r>
              <a:rPr lang="zh-CN" altLang="en-US"/>
              <a:t>暴露时间（</a:t>
            </a:r>
            <a:r>
              <a:rPr lang="en-US" altLang="zh-CN"/>
              <a:t>TET）</a:t>
            </a:r>
            <a:r>
              <a:rPr lang="zh-CN" altLang="en-US"/>
              <a:t>与积分时间（</a:t>
            </a:r>
            <a:r>
              <a:rPr lang="en-US" altLang="zh-CN"/>
              <a:t>TIT）</a:t>
            </a:r>
            <a:r>
              <a:rPr lang="zh-CN" altLang="en-US"/>
              <a:t>三大客观交通安全指标，将其从一维扩展至二维场景，计算周围智能体对目标车辆造成的综合驾驶危险指数。</a:t>
            </a:r>
            <a:endParaRPr lang="zh-CN" altLang="en-US"/>
          </a:p>
          <a:p>
            <a:endParaRPr lang="zh-CN" altLang="en-US"/>
          </a:p>
          <a:p>
            <a:endParaRPr lang="zh-CN" altLang="en-US"/>
          </a:p>
          <a:p>
            <a:endParaRPr lang="zh-CN" altLang="en-US"/>
          </a:p>
          <a:p>
            <a:r>
              <a:rPr lang="zh-CN" altLang="en-US"/>
              <a:t>最终</a:t>
            </a:r>
            <a:r>
              <a:rPr lang="zh-CN" altLang="en-US"/>
              <a:t>选出高潜在碰撞风险的智能体并送入后续预测网络，强迫大模型在建模复杂交互时具备前置的危险认知底线。</a:t>
            </a:r>
            <a:endParaRPr lang="zh-CN" altLang="en-US"/>
          </a:p>
        </p:txBody>
      </p:sp>
      <p:sp>
        <p:nvSpPr>
          <p:cNvPr id="11" name="文本框 10"/>
          <p:cNvSpPr txBox="1"/>
          <p:nvPr/>
        </p:nvSpPr>
        <p:spPr>
          <a:xfrm>
            <a:off x="1333500" y="2192655"/>
            <a:ext cx="153035" cy="368300"/>
          </a:xfrm>
          <a:prstGeom prst="rect">
            <a:avLst/>
          </a:prstGeom>
          <a:noFill/>
        </p:spPr>
        <p:txBody>
          <a:bodyPr wrap="square" rtlCol="0">
            <a:spAutoFit/>
          </a:bodyPr>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3" name="矩形 2"/>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ClrTx/>
              <a:buSzTx/>
              <a:buFontTx/>
            </a:pPr>
            <a:r>
              <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实验结果</a:t>
            </a:r>
            <a:endPar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5" name="文本框 4"/>
          <p:cNvSpPr txBox="1"/>
          <p:nvPr/>
        </p:nvSpPr>
        <p:spPr>
          <a:xfrm>
            <a:off x="140335" y="1169035"/>
            <a:ext cx="11903075" cy="2491105"/>
          </a:xfrm>
          <a:prstGeom prst="rect">
            <a:avLst/>
          </a:prstGeom>
          <a:noFill/>
        </p:spPr>
        <p:txBody>
          <a:bodyPr wrap="square" rtlCol="0">
            <a:noAutofit/>
          </a:bodyPr>
          <a:p>
            <a:endParaRPr lang="zh-CN" altLang="en-US"/>
          </a:p>
        </p:txBody>
      </p:sp>
      <p:sp>
        <p:nvSpPr>
          <p:cNvPr id="7" name="文本框 6"/>
          <p:cNvSpPr txBox="1"/>
          <p:nvPr/>
        </p:nvSpPr>
        <p:spPr>
          <a:xfrm>
            <a:off x="459105" y="1183640"/>
            <a:ext cx="11213465" cy="368300"/>
          </a:xfrm>
          <a:prstGeom prst="rect">
            <a:avLst/>
          </a:prstGeom>
          <a:noFill/>
        </p:spPr>
        <p:txBody>
          <a:bodyPr wrap="square" rtlCol="0">
            <a:spAutoFit/>
          </a:bodyPr>
          <a:p>
            <a:r>
              <a:rPr lang="zh-CN" altLang="en-US"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模态选择器</a:t>
            </a:r>
            <a:endParaRPr lang="zh-CN" altLang="en-US"/>
          </a:p>
        </p:txBody>
      </p:sp>
      <p:sp>
        <p:nvSpPr>
          <p:cNvPr id="8" name="文本框 7"/>
          <p:cNvSpPr txBox="1"/>
          <p:nvPr/>
        </p:nvSpPr>
        <p:spPr>
          <a:xfrm>
            <a:off x="404495" y="1167765"/>
            <a:ext cx="11213465" cy="2306955"/>
          </a:xfrm>
          <a:prstGeom prst="rect">
            <a:avLst/>
          </a:prstGeom>
          <a:noFill/>
        </p:spPr>
        <p:txBody>
          <a:bodyPr wrap="square" rtlCol="0">
            <a:spAutoFit/>
          </a:bodyPr>
          <a:p>
            <a:r>
              <a:rPr lang="en-US" altLang="zh-CN">
                <a:sym typeface="+mn-ea"/>
              </a:rPr>
              <a:t>KnowMTP</a:t>
            </a:r>
            <a:r>
              <a:rPr lang="zh-CN" altLang="en-US">
                <a:sym typeface="+mn-ea"/>
              </a:rPr>
              <a:t>与四种有代表性的方法：</a:t>
            </a:r>
            <a:r>
              <a:rPr lang="en-US" altLang="zh-CN">
                <a:sym typeface="+mn-ea"/>
              </a:rPr>
              <a:t>GameFormer、MTR、BeTop</a:t>
            </a:r>
            <a:r>
              <a:rPr lang="zh-CN" altLang="en-US">
                <a:sym typeface="+mn-ea"/>
              </a:rPr>
              <a:t>和</a:t>
            </a:r>
            <a:r>
              <a:rPr lang="en-US" altLang="zh-CN">
                <a:sym typeface="+mn-ea"/>
              </a:rPr>
              <a:t>EDA</a:t>
            </a:r>
            <a:r>
              <a:rPr lang="zh-CN" altLang="en-US">
                <a:sym typeface="+mn-ea"/>
              </a:rPr>
              <a:t>相结合来评估</a:t>
            </a:r>
            <a:r>
              <a:rPr lang="en-US" altLang="zh-CN">
                <a:sym typeface="+mn-ea"/>
              </a:rPr>
              <a:t>KnowMTP</a:t>
            </a:r>
            <a:r>
              <a:rPr lang="zh-CN" altLang="en-US">
                <a:sym typeface="+mn-ea"/>
              </a:rPr>
              <a:t>的性能。</a:t>
            </a:r>
            <a:endParaRPr lang="zh-CN" altLang="en-US">
              <a:sym typeface="+mn-ea"/>
            </a:endParaRPr>
          </a:p>
          <a:p>
            <a:r>
              <a:rPr lang="zh-CN" altLang="en-US">
                <a:sym typeface="+mn-ea"/>
              </a:rPr>
              <a:t>评估指标：最小平均位移误差(</a:t>
            </a:r>
            <a:r>
              <a:rPr lang="en-US" altLang="zh-CN">
                <a:sym typeface="+mn-ea"/>
              </a:rPr>
              <a:t>MinADE)、</a:t>
            </a:r>
            <a:r>
              <a:rPr lang="zh-CN" altLang="en-US">
                <a:sym typeface="+mn-ea"/>
              </a:rPr>
              <a:t>最小最终位移误差(</a:t>
            </a:r>
            <a:r>
              <a:rPr lang="en-US" altLang="zh-CN">
                <a:sym typeface="+mn-ea"/>
              </a:rPr>
              <a:t>MinFDE)</a:t>
            </a:r>
            <a:r>
              <a:rPr lang="zh-CN" altLang="en-US">
                <a:sym typeface="+mn-ea"/>
              </a:rPr>
              <a:t>和未命中率(</a:t>
            </a:r>
            <a:r>
              <a:rPr lang="en-US" altLang="zh-CN">
                <a:sym typeface="+mn-ea"/>
              </a:rPr>
              <a:t>MR)</a:t>
            </a:r>
            <a:endParaRPr lang="zh-CN" altLang="en-US"/>
          </a:p>
          <a:p>
            <a:endParaRPr lang="zh-CN" altLang="en-US">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a:p>
            <a:endParaRPr lang="en-US" altLang="zh-CN">
              <a:sym typeface="+mn-ea"/>
            </a:endParaRPr>
          </a:p>
        </p:txBody>
      </p:sp>
      <p:pic>
        <p:nvPicPr>
          <p:cNvPr id="6" name="图片 5"/>
          <p:cNvPicPr>
            <a:picLocks noChangeAspect="1"/>
          </p:cNvPicPr>
          <p:nvPr/>
        </p:nvPicPr>
        <p:blipFill>
          <a:blip r:embed="rId2"/>
          <a:stretch>
            <a:fillRect/>
          </a:stretch>
        </p:blipFill>
        <p:spPr>
          <a:xfrm>
            <a:off x="669290" y="2067560"/>
            <a:ext cx="4817110" cy="3027045"/>
          </a:xfrm>
          <a:prstGeom prst="rect">
            <a:avLst/>
          </a:prstGeom>
        </p:spPr>
      </p:pic>
      <p:pic>
        <p:nvPicPr>
          <p:cNvPr id="9" name="图片 8"/>
          <p:cNvPicPr>
            <a:picLocks noChangeAspect="1"/>
          </p:cNvPicPr>
          <p:nvPr/>
        </p:nvPicPr>
        <p:blipFill>
          <a:blip r:embed="rId3"/>
          <a:stretch>
            <a:fillRect/>
          </a:stretch>
        </p:blipFill>
        <p:spPr>
          <a:xfrm>
            <a:off x="5865495" y="1993900"/>
            <a:ext cx="4419600" cy="3321685"/>
          </a:xfrm>
          <a:prstGeom prst="rect">
            <a:avLst/>
          </a:prstGeom>
        </p:spPr>
      </p:pic>
      <p:sp>
        <p:nvSpPr>
          <p:cNvPr id="12" name="文本框 11"/>
          <p:cNvSpPr txBox="1"/>
          <p:nvPr/>
        </p:nvSpPr>
        <p:spPr>
          <a:xfrm>
            <a:off x="506730" y="5530215"/>
            <a:ext cx="10955020" cy="922020"/>
          </a:xfrm>
          <a:prstGeom prst="rect">
            <a:avLst/>
          </a:prstGeom>
          <a:noFill/>
        </p:spPr>
        <p:txBody>
          <a:bodyPr wrap="square" rtlCol="0">
            <a:spAutoFit/>
          </a:bodyPr>
          <a:p>
            <a:r>
              <a:rPr lang="zh-CN" altLang="en-US"/>
              <a:t>在结合知识过滤机制后，轨迹位移误差（</a:t>
            </a:r>
            <a:r>
              <a:rPr lang="en-US" altLang="zh-CN"/>
              <a:t>minADE、minFDE）</a:t>
            </a:r>
            <a:r>
              <a:rPr lang="zh-CN" altLang="en-US"/>
              <a:t>指标均显著下降。</a:t>
            </a:r>
            <a:endParaRPr lang="zh-CN" altLang="en-US"/>
          </a:p>
          <a:p>
            <a:r>
              <a:rPr lang="zh-CN" altLang="en-US"/>
              <a:t>更具挑战性的 </a:t>
            </a:r>
            <a:r>
              <a:rPr lang="en-US" altLang="zh-CN"/>
              <a:t>nuPlan </a:t>
            </a:r>
            <a:r>
              <a:rPr lang="zh-CN" altLang="en-US"/>
              <a:t>密集交互数据集上，亦能取得</a:t>
            </a:r>
            <a:r>
              <a:rPr lang="zh-CN" altLang="en-US"/>
              <a:t>明显的提升。这证明有效控制输入的信息范围并不会切断重要上下文，反而能够引导网络提取到更具预测价值的交互特征。</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5" name="文本框 4"/>
          <p:cNvSpPr txBox="1"/>
          <p:nvPr/>
        </p:nvSpPr>
        <p:spPr>
          <a:xfrm>
            <a:off x="110490" y="1169035"/>
            <a:ext cx="5985510" cy="5200650"/>
          </a:xfrm>
          <a:prstGeom prst="rect">
            <a:avLst/>
          </a:prstGeom>
          <a:noFill/>
        </p:spPr>
        <p:txBody>
          <a:bodyPr wrap="square" rtlCol="0">
            <a:noAutofit/>
          </a:bodyPr>
          <a:p>
            <a:endParaRPr lang="en-US" altLang="zh-CN"/>
          </a:p>
        </p:txBody>
      </p:sp>
      <p:sp>
        <p:nvSpPr>
          <p:cNvPr id="7" name="矩形 6"/>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消融实验</a:t>
            </a:r>
            <a:endParaRPr kumimoji="1" lang="zh-CN" altLang="en-US">
              <a:latin typeface="Times New Roman" panose="02020603050405020304" pitchFamily="18" charset="0"/>
              <a:ea typeface="宋体" panose="02010600030101010101" pitchFamily="2" charset="-122"/>
              <a:sym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5981700" y="1178560"/>
            <a:ext cx="5162550" cy="5327650"/>
          </a:xfrm>
          <a:prstGeom prst="rect">
            <a:avLst/>
          </a:prstGeom>
        </p:spPr>
      </p:pic>
      <p:sp>
        <p:nvSpPr>
          <p:cNvPr id="9" name="文本框 8"/>
          <p:cNvSpPr txBox="1"/>
          <p:nvPr/>
        </p:nvSpPr>
        <p:spPr>
          <a:xfrm>
            <a:off x="170815" y="1282700"/>
            <a:ext cx="5553710" cy="5429250"/>
          </a:xfrm>
          <a:prstGeom prst="rect">
            <a:avLst/>
          </a:prstGeom>
          <a:noFill/>
        </p:spPr>
        <p:txBody>
          <a:bodyPr wrap="square" rtlCol="0">
            <a:noAutofit/>
          </a:bodyPr>
          <a:p>
            <a:r>
              <a:rPr lang="zh-CN" altLang="en-US"/>
              <a:t>评估每个组成部分对总体预测能力的单独贡献。为此，我们进行了一系列的消融</a:t>
            </a:r>
            <a:r>
              <a:rPr lang="zh-CN" altLang="en-US"/>
              <a:t>实验</a:t>
            </a:r>
            <a:endParaRPr lang="zh-CN" altLang="en-US"/>
          </a:p>
          <a:p>
            <a:endParaRPr lang="zh-CN" altLang="en-US"/>
          </a:p>
          <a:p>
            <a:r>
              <a:rPr lang="en-US" altLang="zh-CN"/>
              <a:t>w/o pos</a:t>
            </a:r>
            <a:r>
              <a:rPr lang="zh-CN" altLang="en-US"/>
              <a:t>随机移除位置特征，</a:t>
            </a:r>
            <a:endParaRPr lang="zh-CN" altLang="en-US"/>
          </a:p>
          <a:p>
            <a:r>
              <a:rPr lang="en-US" altLang="zh-CN"/>
              <a:t>w/o vel</a:t>
            </a:r>
            <a:r>
              <a:rPr lang="zh-CN" altLang="en-US"/>
              <a:t>剔除速度特征</a:t>
            </a:r>
            <a:endParaRPr lang="zh-CN" altLang="en-US"/>
          </a:p>
          <a:p>
            <a:r>
              <a:rPr lang="en-US" altLang="zh-CN"/>
              <a:t>w/o angle</a:t>
            </a:r>
            <a:r>
              <a:rPr lang="zh-CN" altLang="en-US"/>
              <a:t>移除筛选过程中的角度信息</a:t>
            </a:r>
            <a:endParaRPr lang="zh-CN" altLang="en-US"/>
          </a:p>
          <a:p>
            <a:r>
              <a:rPr lang="en-US" altLang="zh-CN"/>
              <a:t>w/o type</a:t>
            </a:r>
            <a:r>
              <a:rPr lang="zh-CN" altLang="en-US"/>
              <a:t>剔除智能体类别信息，</a:t>
            </a:r>
            <a:endParaRPr lang="zh-CN" altLang="en-US"/>
          </a:p>
          <a:p>
            <a:r>
              <a:rPr lang="en-US" altLang="zh-CN"/>
              <a:t>w/o safety</a:t>
            </a:r>
            <a:r>
              <a:rPr lang="zh-CN" altLang="en-US"/>
              <a:t>剔除安全临界智能体筛选模块</a:t>
            </a:r>
            <a:endParaRPr lang="zh-CN" altLang="en-US"/>
          </a:p>
          <a:p>
            <a:endParaRPr lang="zh-CN" altLang="en-US"/>
          </a:p>
          <a:p>
            <a:endParaRPr lang="zh-CN" altLang="en-US"/>
          </a:p>
          <a:p>
            <a:endParaRPr lang="zh-CN" altLang="en-US"/>
          </a:p>
          <a:p>
            <a:r>
              <a:rPr lang="zh-CN" altLang="en-US"/>
              <a:t>消融实验结果证实：运动相似智能体筛选所采用的位置、速度、角度、类别、</a:t>
            </a:r>
            <a:r>
              <a:rPr lang="zh-CN" altLang="en-US"/>
              <a:t>安全每一项状态特征，都对 </a:t>
            </a:r>
            <a:r>
              <a:rPr lang="en-US" altLang="zh-CN"/>
              <a:t>KnowMTP</a:t>
            </a:r>
            <a:r>
              <a:rPr lang="zh-CN" altLang="en-US"/>
              <a:t>框架性能具备不可或缺的正向作用。</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3" name="矩形 2"/>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603050405020304" pitchFamily="18" charset="0"/>
              <a:ea typeface="宋体" panose="02010600030101010101" pitchFamily="2" charset="-122"/>
              <a:sym typeface="Times New Roman" panose="02020603050405020304" pitchFamily="18" charset="0"/>
            </a:endParaRPr>
          </a:p>
        </p:txBody>
      </p:sp>
      <p:sp>
        <p:nvSpPr>
          <p:cNvPr id="10" name="文本框 9"/>
          <p:cNvSpPr txBox="1"/>
          <p:nvPr/>
        </p:nvSpPr>
        <p:spPr>
          <a:xfrm>
            <a:off x="140286" y="535148"/>
            <a:ext cx="6565314" cy="521970"/>
          </a:xfrm>
          <a:prstGeom prst="rect">
            <a:avLst/>
          </a:prstGeom>
          <a:noFill/>
        </p:spPr>
        <p:txBody>
          <a:bodyPr wrap="square">
            <a:spAutoFit/>
          </a:bodyPr>
          <a:lstStyle/>
          <a:p>
            <a:pPr algn="l"/>
            <a:r>
              <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效率</a:t>
            </a:r>
            <a:r>
              <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实验</a:t>
            </a:r>
            <a:endPar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5" name="文本框 4"/>
          <p:cNvSpPr txBox="1"/>
          <p:nvPr/>
        </p:nvSpPr>
        <p:spPr>
          <a:xfrm>
            <a:off x="9547225" y="1797050"/>
            <a:ext cx="2063750" cy="368300"/>
          </a:xfrm>
          <a:prstGeom prst="rect">
            <a:avLst/>
          </a:prstGeom>
          <a:noFill/>
        </p:spPr>
        <p:txBody>
          <a:bodyPr wrap="square" rtlCol="0">
            <a:spAutoFit/>
          </a:bodyPr>
          <a:p>
            <a:endParaRPr lang="zh-CN" altLang="en-US"/>
          </a:p>
        </p:txBody>
      </p:sp>
      <p:sp>
        <p:nvSpPr>
          <p:cNvPr id="4" name="文本框 3"/>
          <p:cNvSpPr txBox="1"/>
          <p:nvPr/>
        </p:nvSpPr>
        <p:spPr>
          <a:xfrm>
            <a:off x="597535" y="3358515"/>
            <a:ext cx="11345545" cy="368300"/>
          </a:xfrm>
          <a:prstGeom prst="rect">
            <a:avLst/>
          </a:prstGeom>
          <a:noFill/>
        </p:spPr>
        <p:txBody>
          <a:bodyPr wrap="square" rtlCol="0">
            <a:spAutoFit/>
          </a:bodyPr>
          <a:p>
            <a:endParaRPr lang="zh-CN" altLang="en-US"/>
          </a:p>
        </p:txBody>
      </p:sp>
      <p:sp>
        <p:nvSpPr>
          <p:cNvPr id="9" name="文本框 8"/>
          <p:cNvSpPr txBox="1"/>
          <p:nvPr/>
        </p:nvSpPr>
        <p:spPr>
          <a:xfrm>
            <a:off x="286385" y="1276985"/>
            <a:ext cx="11324590" cy="368300"/>
          </a:xfrm>
          <a:prstGeom prst="rect">
            <a:avLst/>
          </a:prstGeom>
          <a:noFill/>
        </p:spPr>
        <p:txBody>
          <a:bodyPr wrap="square" rtlCol="0">
            <a:spAutoFit/>
          </a:bodyPr>
          <a:p>
            <a:endParaRPr lang="zh-CN" altLang="en-US"/>
          </a:p>
        </p:txBody>
      </p:sp>
      <p:sp>
        <p:nvSpPr>
          <p:cNvPr id="8" name="文本框 7"/>
          <p:cNvSpPr txBox="1"/>
          <p:nvPr/>
        </p:nvSpPr>
        <p:spPr>
          <a:xfrm>
            <a:off x="3556000" y="3014027"/>
            <a:ext cx="5080000" cy="337185"/>
          </a:xfrm>
          <a:prstGeom prst="rect">
            <a:avLst/>
          </a:prstGeom>
        </p:spPr>
        <p:txBody>
          <a:bodyPr>
            <a:spAutoFit/>
          </a:bodyPr>
          <a:p>
            <a:pPr marL="0" indent="0"/>
            <a:r>
              <a:rPr lang="zh-CN" altLang="en-US" sz="1600" b="0" i="0">
                <a:latin typeface="-apple-system"/>
                <a:ea typeface="-apple-system"/>
              </a:rPr>
              <a:t>。</a:t>
            </a:r>
            <a:endParaRPr lang="zh-CN" altLang="en-US" sz="1600" b="0" i="0">
              <a:latin typeface="-apple-system"/>
              <a:ea typeface="-apple-system"/>
            </a:endParaRPr>
          </a:p>
        </p:txBody>
      </p:sp>
      <p:sp>
        <p:nvSpPr>
          <p:cNvPr id="7" name="文本框 6"/>
          <p:cNvSpPr txBox="1"/>
          <p:nvPr/>
        </p:nvSpPr>
        <p:spPr>
          <a:xfrm>
            <a:off x="314960" y="1221105"/>
            <a:ext cx="11005185" cy="368300"/>
          </a:xfrm>
          <a:prstGeom prst="rect">
            <a:avLst/>
          </a:prstGeom>
          <a:noFill/>
        </p:spPr>
        <p:txBody>
          <a:bodyPr wrap="square" rtlCol="0">
            <a:spAutoFit/>
          </a:bodyPr>
          <a:p>
            <a:r>
              <a:rPr lang="zh-CN" altLang="en-US"/>
              <a:t>为了评估所提出的</a:t>
            </a:r>
            <a:r>
              <a:rPr lang="en-US" altLang="zh-CN"/>
              <a:t>KnowMTP</a:t>
            </a:r>
            <a:r>
              <a:rPr lang="zh-CN" altLang="en-US"/>
              <a:t>框架的效率，我们在</a:t>
            </a:r>
            <a:r>
              <a:rPr lang="en-US" altLang="zh-CN"/>
              <a:t>WOMD</a:t>
            </a:r>
            <a:r>
              <a:rPr lang="zh-CN" altLang="en-US"/>
              <a:t>和</a:t>
            </a:r>
            <a:r>
              <a:rPr lang="en-US" altLang="zh-CN"/>
              <a:t>nuPlan</a:t>
            </a:r>
            <a:r>
              <a:rPr lang="zh-CN" altLang="en-US"/>
              <a:t>数据集上进行了推理时间的比较研究</a:t>
            </a:r>
            <a:endParaRPr lang="zh-CN" altLang="en-US"/>
          </a:p>
        </p:txBody>
      </p:sp>
      <p:sp>
        <p:nvSpPr>
          <p:cNvPr id="11" name="文本框 10"/>
          <p:cNvSpPr txBox="1"/>
          <p:nvPr/>
        </p:nvSpPr>
        <p:spPr>
          <a:xfrm>
            <a:off x="462915" y="5091430"/>
            <a:ext cx="11148060" cy="922020"/>
          </a:xfrm>
          <a:prstGeom prst="rect">
            <a:avLst/>
          </a:prstGeom>
          <a:noFill/>
        </p:spPr>
        <p:txBody>
          <a:bodyPr wrap="square" rtlCol="0">
            <a:spAutoFit/>
          </a:bodyPr>
          <a:p>
            <a:r>
              <a:rPr lang="zh-CN" altLang="en-US"/>
              <a:t>结果表明，</a:t>
            </a:r>
            <a:r>
              <a:rPr lang="en-US" altLang="zh-CN"/>
              <a:t>KnowMTP</a:t>
            </a:r>
            <a:r>
              <a:rPr lang="zh-CN" altLang="en-US"/>
              <a:t>持续提高了基线模型的推理效率。主要归功于提出的智能体选择机制，该机制通过测量运动相似度和对目标智能体的安全关键程度来过滤不相关的周围</a:t>
            </a:r>
            <a:r>
              <a:rPr lang="zh-CN" altLang="en-US"/>
              <a:t>智能体。减少了输入数据中的噪声，还降低了计算开销。</a:t>
            </a:r>
            <a:endParaRPr lang="zh-CN" altLang="en-US"/>
          </a:p>
        </p:txBody>
      </p:sp>
      <p:pic>
        <p:nvPicPr>
          <p:cNvPr id="12" name="图片 11"/>
          <p:cNvPicPr>
            <a:picLocks noChangeAspect="1"/>
          </p:cNvPicPr>
          <p:nvPr/>
        </p:nvPicPr>
        <p:blipFill>
          <a:blip r:embed="rId2"/>
          <a:stretch>
            <a:fillRect/>
          </a:stretch>
        </p:blipFill>
        <p:spPr>
          <a:xfrm>
            <a:off x="662305" y="1753235"/>
            <a:ext cx="10572750" cy="31051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3" name="矩形 2"/>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可视化结果</a:t>
            </a:r>
            <a:endPar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7" name="文本框 6"/>
          <p:cNvSpPr txBox="1"/>
          <p:nvPr/>
        </p:nvSpPr>
        <p:spPr>
          <a:xfrm>
            <a:off x="7393305" y="1471295"/>
            <a:ext cx="3587750" cy="4085590"/>
          </a:xfrm>
          <a:prstGeom prst="rect">
            <a:avLst/>
          </a:prstGeom>
          <a:noFill/>
        </p:spPr>
        <p:txBody>
          <a:bodyPr wrap="square" rtlCol="0">
            <a:noAutofit/>
          </a:bodyPr>
          <a:p>
            <a:endParaRPr lang="zh-CN" altLang="en-US"/>
          </a:p>
        </p:txBody>
      </p:sp>
      <p:sp>
        <p:nvSpPr>
          <p:cNvPr id="4" name="文本框 3"/>
          <p:cNvSpPr txBox="1"/>
          <p:nvPr/>
        </p:nvSpPr>
        <p:spPr>
          <a:xfrm>
            <a:off x="449580" y="1346835"/>
            <a:ext cx="6264910" cy="368300"/>
          </a:xfrm>
          <a:prstGeom prst="rect">
            <a:avLst/>
          </a:prstGeom>
          <a:noFill/>
        </p:spPr>
        <p:txBody>
          <a:bodyPr wrap="square" rtlCol="0">
            <a:spAutoFit/>
          </a:bodyPr>
          <a:p>
            <a:endParaRPr lang="zh-CN" altLang="en-US"/>
          </a:p>
        </p:txBody>
      </p:sp>
      <p:sp>
        <p:nvSpPr>
          <p:cNvPr id="5" name="文本框 4"/>
          <p:cNvSpPr txBox="1"/>
          <p:nvPr/>
        </p:nvSpPr>
        <p:spPr>
          <a:xfrm>
            <a:off x="236855" y="1198880"/>
            <a:ext cx="11347450" cy="645160"/>
          </a:xfrm>
          <a:prstGeom prst="rect">
            <a:avLst/>
          </a:prstGeom>
          <a:noFill/>
        </p:spPr>
        <p:txBody>
          <a:bodyPr wrap="square" rtlCol="0">
            <a:spAutoFit/>
          </a:bodyPr>
          <a:p>
            <a:r>
              <a:rPr lang="zh-CN" altLang="en-US"/>
              <a:t>为了进一步研究</a:t>
            </a:r>
            <a:r>
              <a:rPr lang="en-US" altLang="zh-CN"/>
              <a:t>KnowMTP</a:t>
            </a:r>
            <a:r>
              <a:rPr lang="zh-CN" altLang="en-US"/>
              <a:t>为基线模型带来的好处，我们展示了可视化结果，定性分析了基线模型和</a:t>
            </a:r>
            <a:r>
              <a:rPr lang="en-US" altLang="zh-CN"/>
              <a:t>KnowMTP</a:t>
            </a:r>
            <a:r>
              <a:rPr lang="zh-CN" altLang="en-US"/>
              <a:t>增强模型在</a:t>
            </a:r>
            <a:r>
              <a:rPr lang="zh-CN" altLang="en-US">
                <a:sym typeface="+mn-ea"/>
              </a:rPr>
              <a:t>信号交叉口和主干道</a:t>
            </a:r>
            <a:r>
              <a:rPr lang="zh-CN" altLang="en-US"/>
              <a:t>两种常见交通场景中的预测轨迹。</a:t>
            </a:r>
            <a:endParaRPr lang="zh-CN" altLang="en-US"/>
          </a:p>
        </p:txBody>
      </p:sp>
      <p:sp>
        <p:nvSpPr>
          <p:cNvPr id="8" name="文本框 7"/>
          <p:cNvSpPr txBox="1"/>
          <p:nvPr/>
        </p:nvSpPr>
        <p:spPr>
          <a:xfrm>
            <a:off x="9426575" y="1533525"/>
            <a:ext cx="2423160" cy="645160"/>
          </a:xfrm>
          <a:prstGeom prst="rect">
            <a:avLst/>
          </a:prstGeom>
          <a:noFill/>
        </p:spPr>
        <p:txBody>
          <a:bodyPr wrap="square" rtlCol="0">
            <a:spAutoFit/>
          </a:bodyPr>
          <a:p>
            <a:endParaRPr lang="zh-CN" altLang="en-US"/>
          </a:p>
          <a:p>
            <a:endParaRPr lang="zh-CN" altLang="en-US"/>
          </a:p>
        </p:txBody>
      </p:sp>
      <p:pic>
        <p:nvPicPr>
          <p:cNvPr id="13" name="图片 12"/>
          <p:cNvPicPr>
            <a:picLocks noChangeAspect="1"/>
          </p:cNvPicPr>
          <p:nvPr/>
        </p:nvPicPr>
        <p:blipFill>
          <a:blip r:embed="rId2"/>
          <a:stretch>
            <a:fillRect/>
          </a:stretch>
        </p:blipFill>
        <p:spPr>
          <a:xfrm>
            <a:off x="236855" y="1844040"/>
            <a:ext cx="7010400" cy="4690745"/>
          </a:xfrm>
          <a:prstGeom prst="rect">
            <a:avLst/>
          </a:prstGeom>
        </p:spPr>
      </p:pic>
      <p:sp>
        <p:nvSpPr>
          <p:cNvPr id="15" name="文本框 14"/>
          <p:cNvSpPr txBox="1"/>
          <p:nvPr/>
        </p:nvSpPr>
        <p:spPr>
          <a:xfrm>
            <a:off x="7795260" y="1722120"/>
            <a:ext cx="3789045" cy="4523105"/>
          </a:xfrm>
          <a:prstGeom prst="rect">
            <a:avLst/>
          </a:prstGeom>
          <a:noFill/>
        </p:spPr>
        <p:txBody>
          <a:bodyPr wrap="square" rtlCol="0">
            <a:spAutoFit/>
          </a:bodyPr>
          <a:p>
            <a:r>
              <a:rPr lang="en-US" altLang="zh-CN"/>
              <a:t>(A)</a:t>
            </a:r>
            <a:r>
              <a:rPr lang="zh-CN" altLang="en-US"/>
              <a:t>十字路口口(第一排)</a:t>
            </a:r>
            <a:endParaRPr lang="zh-CN" altLang="en-US"/>
          </a:p>
          <a:p>
            <a:r>
              <a:rPr lang="zh-CN" altLang="en-US"/>
              <a:t>(</a:t>
            </a:r>
            <a:r>
              <a:rPr lang="en-US" altLang="zh-CN"/>
              <a:t>B)</a:t>
            </a:r>
            <a:r>
              <a:rPr lang="zh-CN" altLang="en-US"/>
              <a:t>主干道(第二排)，。</a:t>
            </a:r>
            <a:endParaRPr lang="zh-CN" altLang="en-US"/>
          </a:p>
          <a:p>
            <a:r>
              <a:rPr lang="zh-CN" altLang="en-US"/>
              <a:t>(</a:t>
            </a:r>
            <a:r>
              <a:rPr lang="en-US" altLang="zh-CN"/>
              <a:t>C)</a:t>
            </a:r>
            <a:r>
              <a:rPr lang="zh-CN" altLang="en-US"/>
              <a:t>第三行说明了智能体选择机制的有效性，说明</a:t>
            </a:r>
            <a:r>
              <a:rPr lang="zh-CN" altLang="en-US"/>
              <a:t>智能体过滤器如何有助于轨迹预测。</a:t>
            </a:r>
            <a:endParaRPr lang="zh-CN" altLang="en-US"/>
          </a:p>
          <a:p>
            <a:endParaRPr lang="zh-CN" altLang="en-US"/>
          </a:p>
          <a:p>
            <a:r>
              <a:rPr lang="zh-CN" altLang="en-US"/>
              <a:t>基线模型(</a:t>
            </a:r>
            <a:r>
              <a:rPr lang="en-US" altLang="zh-CN"/>
              <a:t>GameFormer</a:t>
            </a:r>
            <a:r>
              <a:rPr lang="zh-CN" altLang="en-US"/>
              <a:t>和</a:t>
            </a:r>
            <a:r>
              <a:rPr lang="en-US" altLang="zh-CN"/>
              <a:t>MTR)</a:t>
            </a:r>
            <a:r>
              <a:rPr lang="zh-CN" altLang="en-US"/>
              <a:t>经常生成违反交通规则的预测，例如闯红灯或穿越黄色实线，这可能会导致潜在的碰撞。</a:t>
            </a:r>
            <a:endParaRPr lang="zh-CN" altLang="en-US"/>
          </a:p>
          <a:p>
            <a:endParaRPr lang="en-US" altLang="zh-CN"/>
          </a:p>
          <a:p>
            <a:r>
              <a:rPr lang="zh-CN" altLang="en-US"/>
              <a:t>我们提出的智能体过滤机制有效地移除了目标智能体的不相关的周围智能体(紫色的显著减少证明了这一点)，从而减少了输入噪声，并允许基线模型做出更明智和合理的预测。</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3" name="矩形 2"/>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失败案例</a:t>
            </a:r>
            <a:endPar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9" name="文本框 8"/>
          <p:cNvSpPr txBox="1"/>
          <p:nvPr/>
        </p:nvSpPr>
        <p:spPr>
          <a:xfrm>
            <a:off x="403225" y="1339850"/>
            <a:ext cx="9290050" cy="4566285"/>
          </a:xfrm>
          <a:prstGeom prst="rect">
            <a:avLst/>
          </a:prstGeom>
          <a:noFill/>
        </p:spPr>
        <p:txBody>
          <a:bodyPr wrap="square" rtlCol="0">
            <a:noAutofit/>
          </a:bodyPr>
          <a:p>
            <a:endParaRPr lang="zh-CN" altLang="en-US"/>
          </a:p>
        </p:txBody>
      </p:sp>
      <p:sp>
        <p:nvSpPr>
          <p:cNvPr id="6" name="文本框 5"/>
          <p:cNvSpPr txBox="1"/>
          <p:nvPr/>
        </p:nvSpPr>
        <p:spPr>
          <a:xfrm>
            <a:off x="7271385" y="1168400"/>
            <a:ext cx="4920615" cy="3534410"/>
          </a:xfrm>
          <a:prstGeom prst="rect">
            <a:avLst/>
          </a:prstGeom>
          <a:noFill/>
        </p:spPr>
        <p:txBody>
          <a:bodyPr wrap="square" rtlCol="0">
            <a:noAutofit/>
          </a:bodyPr>
          <a:p>
            <a:endParaRPr lang="en-US" altLang="en-US"/>
          </a:p>
        </p:txBody>
      </p:sp>
      <p:pic>
        <p:nvPicPr>
          <p:cNvPr id="7" name="图片 6"/>
          <p:cNvPicPr>
            <a:picLocks noChangeAspect="1"/>
          </p:cNvPicPr>
          <p:nvPr/>
        </p:nvPicPr>
        <p:blipFill>
          <a:blip r:embed="rId2"/>
          <a:stretch>
            <a:fillRect/>
          </a:stretch>
        </p:blipFill>
        <p:spPr>
          <a:xfrm>
            <a:off x="718820" y="1891030"/>
            <a:ext cx="7778115" cy="2773680"/>
          </a:xfrm>
          <a:prstGeom prst="rect">
            <a:avLst/>
          </a:prstGeom>
        </p:spPr>
      </p:pic>
      <p:sp>
        <p:nvSpPr>
          <p:cNvPr id="12" name="文本框 11"/>
          <p:cNvSpPr txBox="1"/>
          <p:nvPr/>
        </p:nvSpPr>
        <p:spPr>
          <a:xfrm>
            <a:off x="802005" y="4955540"/>
            <a:ext cx="11066780" cy="1198880"/>
          </a:xfrm>
          <a:prstGeom prst="rect">
            <a:avLst/>
          </a:prstGeom>
          <a:noFill/>
        </p:spPr>
        <p:txBody>
          <a:bodyPr wrap="square" rtlCol="0">
            <a:spAutoFit/>
          </a:bodyPr>
          <a:p>
            <a:r>
              <a:rPr lang="zh-CN" altLang="en-US"/>
              <a:t>尽管</a:t>
            </a:r>
            <a:r>
              <a:rPr lang="en-US" altLang="zh-CN"/>
              <a:t>KnowMTP</a:t>
            </a:r>
            <a:r>
              <a:rPr lang="zh-CN" altLang="en-US"/>
              <a:t>在预测精度方面有了实质性的改进，但它有一个显著的局限性。在某些情况下，感知到的安全性可能会导致模型的行为过于保守，从而导致不切实际的轨迹预测。如图所示，将</a:t>
            </a:r>
            <a:r>
              <a:rPr lang="en-US" altLang="zh-CN"/>
              <a:t>KnowMTP</a:t>
            </a:r>
            <a:r>
              <a:rPr lang="zh-CN" altLang="en-US"/>
              <a:t>与</a:t>
            </a:r>
            <a:r>
              <a:rPr lang="en-US" altLang="zh-CN"/>
              <a:t>MTR</a:t>
            </a:r>
            <a:r>
              <a:rPr lang="zh-CN" altLang="en-US"/>
              <a:t>集成会导致代理在</a:t>
            </a:r>
            <a:r>
              <a:rPr lang="en-US" altLang="zh-CN"/>
              <a:t>T</a:t>
            </a:r>
            <a:r>
              <a:rPr lang="zh-CN" altLang="en-US"/>
              <a:t>型交叉口长时间停车，从而偏离实际情况，并且比原始</a:t>
            </a:r>
            <a:r>
              <a:rPr lang="en-US" altLang="zh-CN"/>
              <a:t>MTR</a:t>
            </a:r>
            <a:r>
              <a:rPr lang="zh-CN" altLang="en-US"/>
              <a:t>的性能更差。这一局限性表明需要未来在</a:t>
            </a:r>
            <a:r>
              <a:rPr lang="zh-CN" altLang="en-US"/>
              <a:t>轨迹预测中平衡安全意识和行为现实主义。</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81263"/>
            <a:ext cx="12192000" cy="72000"/>
          </a:xfrm>
          <a:prstGeom prst="rect">
            <a:avLst/>
          </a:prstGeom>
          <a:solidFill>
            <a:srgbClr val="003F87">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8209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41" name="图形 40"/>
          <p:cNvPicPr>
            <a:picLocks noChangeAspect="1"/>
          </p:cNvPicPr>
          <p:nvPr/>
        </p:nvPicPr>
        <p:blipFill>
          <a:blip r:embed="rId1"/>
          <a:srcRect/>
          <a:stretch>
            <a:fillRect/>
          </a:stretch>
        </p:blipFill>
        <p:spPr>
          <a:xfrm>
            <a:off x="140286" y="110116"/>
            <a:ext cx="1001728" cy="347019"/>
          </a:xfrm>
          <a:prstGeom prst="rect">
            <a:avLst/>
          </a:prstGeom>
        </p:spPr>
      </p:pic>
      <p:sp>
        <p:nvSpPr>
          <p:cNvPr id="3" name="矩形 2"/>
          <p:cNvSpPr/>
          <p:nvPr/>
        </p:nvSpPr>
        <p:spPr>
          <a:xfrm>
            <a:off x="1" y="535148"/>
            <a:ext cx="12191998" cy="565512"/>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总结贡献</a:t>
            </a:r>
            <a:endParaRPr kumimoji="1" lang="zh-CN" altLang="en-US">
              <a:latin typeface="Times New Roman" panose="02020603050405020304" pitchFamily="18" charset="0"/>
              <a:ea typeface="宋体" panose="02010600030101010101" pitchFamily="2" charset="-122"/>
              <a:sym typeface="Times New Roman" panose="02020603050405020304" pitchFamily="18" charset="0"/>
            </a:endParaRPr>
          </a:p>
        </p:txBody>
      </p:sp>
      <p:sp>
        <p:nvSpPr>
          <p:cNvPr id="9" name="文本框 8"/>
          <p:cNvSpPr txBox="1"/>
          <p:nvPr/>
        </p:nvSpPr>
        <p:spPr>
          <a:xfrm>
            <a:off x="224790" y="1534160"/>
            <a:ext cx="9290050" cy="4566285"/>
          </a:xfrm>
          <a:prstGeom prst="rect">
            <a:avLst/>
          </a:prstGeom>
          <a:noFill/>
        </p:spPr>
        <p:txBody>
          <a:bodyPr wrap="square" rtlCol="0">
            <a:noAutofit/>
          </a:bodyPr>
          <a:p>
            <a:pPr algn="l">
              <a:buClrTx/>
              <a:buSzTx/>
              <a:buNone/>
            </a:pPr>
            <a:endParaRPr lang="zh-CN" altLang="en-US" sz="2400"/>
          </a:p>
        </p:txBody>
      </p:sp>
      <p:sp>
        <p:nvSpPr>
          <p:cNvPr id="5" name="文本框 4"/>
          <p:cNvSpPr txBox="1"/>
          <p:nvPr/>
        </p:nvSpPr>
        <p:spPr>
          <a:xfrm>
            <a:off x="271780" y="1381760"/>
            <a:ext cx="11424920" cy="4246245"/>
          </a:xfrm>
          <a:prstGeom prst="rect">
            <a:avLst/>
          </a:prstGeom>
          <a:noFill/>
        </p:spPr>
        <p:txBody>
          <a:bodyPr wrap="square" rtlCol="0">
            <a:spAutoFit/>
          </a:bodyPr>
          <a:p>
            <a:r>
              <a:rPr lang="en-US" altLang="zh-CN"/>
              <a:t>1.</a:t>
            </a:r>
            <a:r>
              <a:rPr lang="zh-CN" altLang="en-US"/>
              <a:t>提出了一种新的轨迹预测框架</a:t>
            </a:r>
            <a:r>
              <a:rPr lang="en-US" altLang="zh-CN"/>
              <a:t>KnowMTP，</a:t>
            </a:r>
            <a:r>
              <a:rPr lang="zh-CN" altLang="en-US"/>
              <a:t>该框架综合了运动相似性和安全关键</a:t>
            </a:r>
            <a:r>
              <a:rPr lang="zh-CN" altLang="en-US"/>
              <a:t>性，提高了预测的准确性和鲁棒性。</a:t>
            </a:r>
            <a:endParaRPr lang="zh-CN" altLang="en-US"/>
          </a:p>
          <a:p>
            <a:endParaRPr lang="zh-CN" altLang="en-US"/>
          </a:p>
          <a:p>
            <a:endParaRPr lang="zh-CN" altLang="en-US"/>
          </a:p>
          <a:p>
            <a:endParaRPr lang="zh-CN" altLang="en-US"/>
          </a:p>
          <a:p>
            <a:endParaRPr lang="zh-CN" altLang="en-US"/>
          </a:p>
          <a:p>
            <a:r>
              <a:rPr lang="en-US" altLang="zh-CN"/>
              <a:t>2.</a:t>
            </a:r>
            <a:r>
              <a:rPr lang="zh-CN" altLang="en-US"/>
              <a:t>提出了一种新的基于运动相似度的智能体过滤机制，动态地选择关键的邻域</a:t>
            </a:r>
            <a:r>
              <a:rPr lang="zh-CN" altLang="en-US"/>
              <a:t>智能体，提高了计算的准确性和效率。</a:t>
            </a:r>
            <a:endParaRPr lang="zh-CN" altLang="en-US"/>
          </a:p>
          <a:p>
            <a:endParaRPr lang="zh-CN" altLang="en-US"/>
          </a:p>
          <a:p>
            <a:endParaRPr lang="zh-CN" altLang="en-US"/>
          </a:p>
          <a:p>
            <a:endParaRPr lang="zh-CN" altLang="en-US"/>
          </a:p>
          <a:p>
            <a:endParaRPr lang="zh-CN" altLang="en-US"/>
          </a:p>
          <a:p>
            <a:endParaRPr lang="zh-CN" altLang="en-US"/>
          </a:p>
          <a:p>
            <a:r>
              <a:rPr lang="en-US" altLang="zh-CN"/>
              <a:t>3.</a:t>
            </a:r>
            <a:r>
              <a:rPr lang="zh-CN" altLang="en-US"/>
              <a:t>将所提出的过滤框架集成到最新的预测模型中，并表明它一致地提高了轨迹预测的性能。展示了将结构化领域知识嵌入到数据驱动的多</a:t>
            </a:r>
            <a:r>
              <a:rPr lang="zh-CN" altLang="en-US"/>
              <a:t>智能体预测模型中的有效性。</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1928399"/>
            <a:ext cx="12192000" cy="3090792"/>
          </a:xfrm>
          <a:prstGeom prst="rect">
            <a:avLst/>
          </a:pr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sp>
        <p:nvSpPr>
          <p:cNvPr id="17" name="文本框 16"/>
          <p:cNvSpPr txBox="1"/>
          <p:nvPr/>
        </p:nvSpPr>
        <p:spPr>
          <a:xfrm>
            <a:off x="4439081" y="3132989"/>
            <a:ext cx="3313838" cy="838499"/>
          </a:xfrm>
          <a:prstGeom prst="rect">
            <a:avLst/>
          </a:prstGeom>
          <a:noFill/>
        </p:spPr>
        <p:txBody>
          <a:bodyPr wrap="square"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sz="48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谢  谢！</a:t>
            </a:r>
            <a:endParaRPr kumimoji="0" lang="zh-CN" altLang="en-US" sz="48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endParaRPr>
          </a:p>
        </p:txBody>
      </p:sp>
      <p:pic>
        <p:nvPicPr>
          <p:cNvPr id="5" name="图形 4"/>
          <p:cNvPicPr>
            <a:picLocks noChangeAspect="1"/>
          </p:cNvPicPr>
          <p:nvPr/>
        </p:nvPicPr>
        <p:blipFill>
          <a:blip r:embed="rId1"/>
          <a:srcRect/>
          <a:stretch>
            <a:fillRect/>
          </a:stretch>
        </p:blipFill>
        <p:spPr>
          <a:xfrm>
            <a:off x="9866086" y="296743"/>
            <a:ext cx="1950560" cy="675713"/>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12700">
          <a:tailEnd type="triangle"/>
        </a:ln>
      </a:spPr>
      <a:bodyPr/>
      <a:lstStyle/>
      <a:style>
        <a:lnRef idx="1">
          <a:schemeClr val="dk1"/>
        </a:lnRef>
        <a:fillRef idx="0">
          <a:schemeClr val="dk1"/>
        </a:fillRef>
        <a:effectRef idx="0">
          <a:schemeClr val="dk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12700">
          <a:tailEnd type="triangle"/>
        </a:ln>
      </a:spPr>
      <a:bodyPr/>
      <a:lstStyle/>
      <a:style>
        <a:lnRef idx="1">
          <a:schemeClr val="dk1"/>
        </a:lnRef>
        <a:fillRef idx="0">
          <a:schemeClr val="dk1"/>
        </a:fillRef>
        <a:effectRef idx="0">
          <a:schemeClr val="dk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2227</Words>
  <Application>WPS 演示</Application>
  <PresentationFormat>宽屏</PresentationFormat>
  <Paragraphs>124</Paragraphs>
  <Slides>12</Slides>
  <Notes>13</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12</vt:i4>
      </vt:variant>
    </vt:vector>
  </HeadingPairs>
  <TitlesOfParts>
    <vt:vector size="24" baseType="lpstr">
      <vt:lpstr>Arial</vt:lpstr>
      <vt:lpstr>宋体</vt:lpstr>
      <vt:lpstr>Wingdings</vt:lpstr>
      <vt:lpstr>Times New Roman</vt:lpstr>
      <vt:lpstr>微软雅黑</vt:lpstr>
      <vt:lpstr>-apple-system</vt:lpstr>
      <vt:lpstr>Segoe Print</vt:lpstr>
      <vt:lpstr>Arial Unicode MS</vt:lpstr>
      <vt:lpstr>等线 Light</vt:lpstr>
      <vt:lpstr>等线</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Cullen Doris</dc:creator>
  <cp:lastModifiedBy>幽</cp:lastModifiedBy>
  <cp:revision>2111</cp:revision>
  <dcterms:created xsi:type="dcterms:W3CDTF">2022-11-10T08:00:00Z</dcterms:created>
  <dcterms:modified xsi:type="dcterms:W3CDTF">2026-08-16T13:07:45Z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E6ED2100805841318EA1860F49E1FE79_13</vt:lpwstr>
  </property>
  <property fmtid="{D5CDD505-2E9C-101B-9397-08002B2CF9AE}" pid="3" name="KSOProductBuildVer">
    <vt:lpwstr>2052-12.1.0.28043</vt:lpwstr>
  </property>
</Properties>
</file>